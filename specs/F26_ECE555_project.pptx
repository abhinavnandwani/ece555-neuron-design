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33" r:id="rId3"/>
    <p:sldId id="334" r:id="rId4"/>
    <p:sldId id="329" r:id="rId5"/>
    <p:sldId id="336" r:id="rId6"/>
    <p:sldId id="337" r:id="rId7"/>
    <p:sldId id="338" r:id="rId8"/>
    <p:sldId id="339" r:id="rId9"/>
    <p:sldId id="351" r:id="rId10"/>
    <p:sldId id="259" r:id="rId11"/>
    <p:sldId id="260" r:id="rId12"/>
    <p:sldId id="343" r:id="rId13"/>
    <p:sldId id="344" r:id="rId14"/>
    <p:sldId id="346" r:id="rId15"/>
    <p:sldId id="3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B0000"/>
    <a:srgbClr val="DADFE1"/>
    <a:srgbClr val="C5050C"/>
    <a:srgbClr val="820000"/>
    <a:srgbClr val="0479A8"/>
    <a:srgbClr val="646569"/>
    <a:srgbClr val="0432C2"/>
    <a:srgbClr val="FF9F0A"/>
    <a:srgbClr val="BC1E40"/>
    <a:srgbClr val="E4E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F62C7-3874-4507-AA41-2913589F5FDC}" v="2" dt="2026-10-14T01:38:21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 autoAdjust="0"/>
    <p:restoredTop sz="89116" autoAdjust="0"/>
  </p:normalViewPr>
  <p:slideViewPr>
    <p:cSldViewPr snapToGrid="0">
      <p:cViewPr>
        <p:scale>
          <a:sx n="79" d="100"/>
          <a:sy n="79" d="100"/>
        </p:scale>
        <p:origin x="828" y="27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83943-3613-459F-9373-FA2E2E43B4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7EF8A-A9C2-427C-993F-5336B7C4C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6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20431-B6B4-484F-9F23-1E945AE4753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6D93-C073-4883-B0D1-98AE3206B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9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0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activity recognition identifies daily activities, such as walking, sitting, and driving.</a:t>
            </a:r>
          </a:p>
          <a:p>
            <a:r>
              <a:rPr lang="en-US" sz="1200" u="sng" dirty="0"/>
              <a:t>Knowing what a patient is doing is </a:t>
            </a:r>
            <a:r>
              <a:rPr lang="en-US" sz="1200" b="1" u="sng" dirty="0"/>
              <a:t>the first step</a:t>
            </a:r>
            <a:r>
              <a:rPr lang="en-US" sz="1200" u="sng" dirty="0"/>
              <a:t> to address movement disorder problems</a:t>
            </a:r>
          </a:p>
          <a:p>
            <a:r>
              <a:rPr lang="en-US" sz="1200" dirty="0"/>
              <a:t>Therefore, human activity recognition can provide very valuable insights to health specialists</a:t>
            </a:r>
          </a:p>
          <a:p>
            <a:r>
              <a:rPr lang="en-US" sz="1200" dirty="0"/>
              <a:t>Other applications of HAR include patient rehabilitation, fall detection and physical activity recognition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63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62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6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03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95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53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25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93-C073-4883-B0D1-98AE3206B3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53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>
            <a:noAutofit/>
          </a:bodyPr>
          <a:lstStyle>
            <a:lvl1pPr>
              <a:defRPr sz="4900">
                <a:latin typeface="PT Sans" panose="020B0503020203020204" pitchFamily="34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>
            <a:lvl1pPr marL="0" indent="0" algn="ctr">
              <a:lnSpc>
                <a:spcPct val="11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2" y="5600700"/>
            <a:ext cx="1794255" cy="1257300"/>
          </a:xfrm>
          <a:prstGeom prst="rect">
            <a:avLst/>
          </a:prstGeom>
          <a:solidFill>
            <a:srgbClr val="C505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Arc 16"/>
          <p:cNvSpPr/>
          <p:nvPr userDrawn="1"/>
        </p:nvSpPr>
        <p:spPr>
          <a:xfrm rot="10800000">
            <a:off x="-2" y="4114800"/>
            <a:ext cx="3657601" cy="2743200"/>
          </a:xfrm>
          <a:prstGeom prst="arc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10401289" y="5600700"/>
            <a:ext cx="1794255" cy="1257300"/>
          </a:xfrm>
          <a:prstGeom prst="rect">
            <a:avLst/>
          </a:prstGeom>
          <a:solidFill>
            <a:srgbClr val="C505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Arc 18"/>
          <p:cNvSpPr/>
          <p:nvPr userDrawn="1"/>
        </p:nvSpPr>
        <p:spPr>
          <a:xfrm rot="10800000">
            <a:off x="8534400" y="4114800"/>
            <a:ext cx="3657601" cy="2743200"/>
          </a:xfrm>
          <a:prstGeom prst="arc">
            <a:avLst>
              <a:gd name="adj1" fmla="val 16200000"/>
              <a:gd name="adj2" fmla="val 1618753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4" name="Picture 23" descr="Logo&#10;&#10;Description automatically generated">
            <a:extLst>
              <a:ext uri="{FF2B5EF4-FFF2-40B4-BE49-F238E27FC236}">
                <a16:creationId xmlns:a16="http://schemas.microsoft.com/office/drawing/2014/main" id="{D09C7B17-01CC-4C47-935F-AAF7F30C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472" y="5600700"/>
            <a:ext cx="2862581" cy="97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2" y="5600700"/>
            <a:ext cx="1794255" cy="1257300"/>
          </a:xfrm>
          <a:prstGeom prst="rect">
            <a:avLst/>
          </a:prstGeom>
          <a:solidFill>
            <a:srgbClr val="C505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Box 4"/>
          <p:cNvSpPr txBox="1"/>
          <p:nvPr userDrawn="1"/>
        </p:nvSpPr>
        <p:spPr>
          <a:xfrm>
            <a:off x="2" y="6457890"/>
            <a:ext cx="96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3" indent="-53975" algn="l"/>
            <a:fld id="{4C075B18-D25E-4CBC-B4EF-D49452837008}" type="slidenum">
              <a:rPr lang="en-US" sz="2000" b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112713" indent="-53975" algn="l"/>
              <a:t>‹#›</a:t>
            </a:fld>
            <a:endParaRPr lang="en-US" sz="20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rc 22"/>
          <p:cNvSpPr/>
          <p:nvPr userDrawn="1"/>
        </p:nvSpPr>
        <p:spPr>
          <a:xfrm rot="10800000">
            <a:off x="-2" y="3962400"/>
            <a:ext cx="3657601" cy="2895600"/>
          </a:xfrm>
          <a:prstGeom prst="arc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625503" y="1219201"/>
            <a:ext cx="10972800" cy="474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latin typeface="PT Sans" panose="020B0503020203020204" pitchFamily="34" charset="77"/>
              </a:defRPr>
            </a:lvl1pPr>
            <a:lvl2pPr>
              <a:spcBef>
                <a:spcPts val="300"/>
              </a:spcBef>
              <a:defRPr sz="2200">
                <a:latin typeface="PT Sans" panose="020B0503020203020204" pitchFamily="34" charset="77"/>
              </a:defRPr>
            </a:lvl2pPr>
            <a:lvl3pPr>
              <a:spcBef>
                <a:spcPts val="330"/>
              </a:spcBef>
              <a:defRPr sz="2000">
                <a:latin typeface="PT Sans" panose="020B0503020203020204" pitchFamily="34" charset="77"/>
              </a:defRPr>
            </a:lvl3pPr>
            <a:lvl4pPr>
              <a:spcBef>
                <a:spcPts val="500"/>
              </a:spcBef>
              <a:defRPr sz="2000">
                <a:latin typeface="PT Sans" panose="020B0503020203020204" pitchFamily="34" charset="77"/>
              </a:defRPr>
            </a:lvl4pPr>
            <a:lvl5pPr>
              <a:spcBef>
                <a:spcPts val="500"/>
              </a:spcBef>
              <a:defRPr sz="2000">
                <a:latin typeface="PT Sans" panose="020B05030202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37C42D88-8839-9048-AB51-B559EAF236D9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5679949" y="-5679949"/>
            <a:ext cx="832104" cy="12192003"/>
          </a:xfrm>
          <a:prstGeom prst="rect">
            <a:avLst/>
          </a:prstGeom>
          <a:solidFill>
            <a:srgbClr val="64656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27EDD6-9473-7345-A4BB-AE15C396E8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1104" y="100584"/>
            <a:ext cx="11582397" cy="685802"/>
          </a:xfrm>
        </p:spPr>
        <p:txBody>
          <a:bodyPr>
            <a:noAutofit/>
          </a:bodyPr>
          <a:lstStyle>
            <a:lvl1pPr algn="l">
              <a:defRPr sz="4100" b="1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n-US"/>
              <a:t>Experimental Results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D263097C-647A-5B49-9645-F3B58231A884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6050878" y="-5222742"/>
            <a:ext cx="93784" cy="12195543"/>
          </a:xfrm>
          <a:prstGeom prst="rect">
            <a:avLst/>
          </a:prstGeom>
          <a:solidFill>
            <a:srgbClr val="C5050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9259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0401289" y="5600700"/>
            <a:ext cx="1794255" cy="1257300"/>
          </a:xfrm>
          <a:prstGeom prst="rect">
            <a:avLst/>
          </a:prstGeom>
          <a:solidFill>
            <a:srgbClr val="C505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625503" y="1219201"/>
            <a:ext cx="10972800" cy="474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1pPr>
            <a:lvl2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2pPr>
            <a:lvl3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3pPr>
            <a:lvl4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1298416" y="6428232"/>
            <a:ext cx="871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3" indent="-53975" algn="r"/>
            <a:fld id="{4C075B18-D25E-4CBC-B4EF-D49452837008}" type="slidenum">
              <a:rPr lang="en-US" sz="2000" b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112713" indent="-53975" algn="r"/>
              <a:t>‹#›</a:t>
            </a:fld>
            <a:endParaRPr lang="en-US" sz="20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rc 10"/>
          <p:cNvSpPr/>
          <p:nvPr userDrawn="1"/>
        </p:nvSpPr>
        <p:spPr>
          <a:xfrm rot="10800000">
            <a:off x="8534401" y="4343400"/>
            <a:ext cx="3657601" cy="2514600"/>
          </a:xfrm>
          <a:prstGeom prst="arc">
            <a:avLst>
              <a:gd name="adj1" fmla="val 16200000"/>
              <a:gd name="adj2" fmla="val 1618753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9"/>
          <p:cNvSpPr>
            <a:spLocks noChangeArrowheads="1"/>
          </p:cNvSpPr>
          <p:nvPr userDrawn="1"/>
        </p:nvSpPr>
        <p:spPr bwMode="auto">
          <a:xfrm rot="5400000">
            <a:off x="5679949" y="-5679949"/>
            <a:ext cx="832104" cy="12192003"/>
          </a:xfrm>
          <a:prstGeom prst="rect">
            <a:avLst/>
          </a:prstGeom>
          <a:solidFill>
            <a:srgbClr val="64656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1104" y="100584"/>
            <a:ext cx="11582397" cy="685802"/>
          </a:xfrm>
        </p:spPr>
        <p:txBody>
          <a:bodyPr>
            <a:noAutofit/>
          </a:bodyPr>
          <a:lstStyle>
            <a:lvl1pPr algn="l">
              <a:defRPr sz="4100" b="1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n-US"/>
              <a:t>Experimental Results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9DEA3DE6-0A4F-E145-8E37-6DD5445F9DC1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6050878" y="-5222742"/>
            <a:ext cx="93784" cy="12195543"/>
          </a:xfrm>
          <a:prstGeom prst="rect">
            <a:avLst/>
          </a:prstGeom>
          <a:solidFill>
            <a:srgbClr val="C5050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775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0401289" y="5600700"/>
            <a:ext cx="1794255" cy="1257300"/>
          </a:xfrm>
          <a:prstGeom prst="rect">
            <a:avLst/>
          </a:prstGeom>
          <a:solidFill>
            <a:srgbClr val="0479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625503" y="1219201"/>
            <a:ext cx="10972800" cy="474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1pPr>
            <a:lvl2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2pPr>
            <a:lvl3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3pPr>
            <a:lvl4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defRPr lang="en-US" sz="2400" b="1" kern="1200" dirty="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1298416" y="6428232"/>
            <a:ext cx="871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3" indent="-53975" algn="r"/>
            <a:fld id="{4C075B18-D25E-4CBC-B4EF-D49452837008}" type="slidenum">
              <a:rPr lang="en-US" sz="2000" b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112713" indent="-53975" algn="r"/>
              <a:t>‹#›</a:t>
            </a:fld>
            <a:endParaRPr lang="en-US" sz="20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rc 10"/>
          <p:cNvSpPr/>
          <p:nvPr userDrawn="1"/>
        </p:nvSpPr>
        <p:spPr>
          <a:xfrm rot="10800000">
            <a:off x="8534401" y="4343400"/>
            <a:ext cx="3657601" cy="2514600"/>
          </a:xfrm>
          <a:prstGeom prst="arc">
            <a:avLst>
              <a:gd name="adj1" fmla="val 16200000"/>
              <a:gd name="adj2" fmla="val 1618753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9"/>
          <p:cNvSpPr>
            <a:spLocks noChangeArrowheads="1"/>
          </p:cNvSpPr>
          <p:nvPr userDrawn="1"/>
        </p:nvSpPr>
        <p:spPr bwMode="auto">
          <a:xfrm rot="5400000">
            <a:off x="5679949" y="-5679949"/>
            <a:ext cx="832104" cy="12192003"/>
          </a:xfrm>
          <a:prstGeom prst="rect">
            <a:avLst/>
          </a:prstGeom>
          <a:solidFill>
            <a:srgbClr val="64656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1104" y="100584"/>
            <a:ext cx="11582397" cy="685802"/>
          </a:xfrm>
        </p:spPr>
        <p:txBody>
          <a:bodyPr>
            <a:noAutofit/>
          </a:bodyPr>
          <a:lstStyle>
            <a:lvl1pPr algn="l">
              <a:defRPr sz="4100" b="1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n-US"/>
              <a:t>Experimental Results</a:t>
            </a:r>
          </a:p>
        </p:txBody>
      </p:sp>
      <p:sp>
        <p:nvSpPr>
          <p:cNvPr id="17" name="Rectangle 9"/>
          <p:cNvSpPr>
            <a:spLocks noChangeArrowheads="1"/>
          </p:cNvSpPr>
          <p:nvPr userDrawn="1"/>
        </p:nvSpPr>
        <p:spPr bwMode="auto">
          <a:xfrm rot="5400000">
            <a:off x="6050877" y="-5212679"/>
            <a:ext cx="93784" cy="12195543"/>
          </a:xfrm>
          <a:prstGeom prst="rect">
            <a:avLst/>
          </a:prstGeom>
          <a:solidFill>
            <a:srgbClr val="0479A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4586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97280"/>
            <a:ext cx="109728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77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5" r:id="rId4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01752" indent="-301752" algn="l" defTabSz="914400" rtl="0" eaLnBrk="1" latinLnBrk="0" hangingPunct="1">
        <a:spcBef>
          <a:spcPts val="1100"/>
        </a:spcBef>
        <a:buClrTx/>
        <a:buSzPct val="111000"/>
        <a:buFont typeface="Wingdings" panose="05000000000000000000" pitchFamily="2" charset="2"/>
        <a:buChar char="§"/>
        <a:defRPr sz="23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3088" indent="-231775" algn="l" defTabSz="914400" rtl="0" eaLnBrk="1" latinLnBrk="0" hangingPunct="1">
        <a:spcBef>
          <a:spcPts val="700"/>
        </a:spcBef>
        <a:buFont typeface="Arial" panose="020B0604020202020204" pitchFamily="34" charset="0"/>
        <a:buChar char="–"/>
        <a:defRPr sz="2100" b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9775" indent="-166688" algn="l" defTabSz="914400" rtl="0" eaLnBrk="1" latinLnBrk="0" hangingPunct="1">
        <a:spcBef>
          <a:spcPts val="33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89025" indent="-290513" algn="l" defTabSz="914400" rtl="0" eaLnBrk="1" latinLnBrk="0" hangingPunct="1">
        <a:spcBef>
          <a:spcPts val="33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71600" indent="-225425" algn="l" defTabSz="914400" rtl="0" eaLnBrk="1" latinLnBrk="0" hangingPunct="1">
        <a:spcBef>
          <a:spcPts val="33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wmadison.zoom.us/rec/share/f0gPxcT_qa_EAfUAWKGF_MIoAXOaPPcNypBLNuIar7kwDw_2SHiqrBxl2Tw6PyrF.vc-Afy8A0IVq4mg8?startTime=179192478500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23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0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23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0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0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40.png"/><Relationship Id="rId18" Type="http://schemas.openxmlformats.org/officeDocument/2006/relationships/image" Target="../media/image59.png"/><Relationship Id="rId39" Type="http://schemas.openxmlformats.org/officeDocument/2006/relationships/image" Target="../media/image56.png"/><Relationship Id="rId3" Type="http://schemas.openxmlformats.org/officeDocument/2006/relationships/image" Target="../media/image430.png"/><Relationship Id="rId34" Type="http://schemas.openxmlformats.org/officeDocument/2006/relationships/image" Target="../media/image500.png"/><Relationship Id="rId42" Type="http://schemas.openxmlformats.org/officeDocument/2006/relationships/image" Target="../media/image60.png"/><Relationship Id="rId7" Type="http://schemas.openxmlformats.org/officeDocument/2006/relationships/image" Target="../media/image47.png"/><Relationship Id="rId12" Type="http://schemas.openxmlformats.org/officeDocument/2006/relationships/image" Target="../media/image43.png"/><Relationship Id="rId25" Type="http://schemas.openxmlformats.org/officeDocument/2006/relationships/image" Target="../media/image66.png"/><Relationship Id="rId33" Type="http://schemas.openxmlformats.org/officeDocument/2006/relationships/image" Target="../media/image55.png"/><Relationship Id="rId38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32" Type="http://schemas.openxmlformats.org/officeDocument/2006/relationships/image" Target="../media/image54.png"/><Relationship Id="rId24" Type="http://schemas.openxmlformats.org/officeDocument/2006/relationships/image" Target="../media/image65.png"/><Relationship Id="rId37" Type="http://schemas.openxmlformats.org/officeDocument/2006/relationships/image" Target="../media/image530.png"/><Relationship Id="rId40" Type="http://schemas.openxmlformats.org/officeDocument/2006/relationships/image" Target="../media/image61.png"/><Relationship Id="rId5" Type="http://schemas.openxmlformats.org/officeDocument/2006/relationships/image" Target="../media/image45.png"/><Relationship Id="rId23" Type="http://schemas.openxmlformats.org/officeDocument/2006/relationships/image" Target="../media/image64.png"/><Relationship Id="rId36" Type="http://schemas.openxmlformats.org/officeDocument/2006/relationships/image" Target="../media/image520.png"/><Relationship Id="rId15" Type="http://schemas.openxmlformats.org/officeDocument/2006/relationships/image" Target="../media/image560.png"/><Relationship Id="rId10" Type="http://schemas.openxmlformats.org/officeDocument/2006/relationships/image" Target="../media/image50.png"/><Relationship Id="rId31" Type="http://schemas.openxmlformats.org/officeDocument/2006/relationships/image" Target="../media/image52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30" Type="http://schemas.openxmlformats.org/officeDocument/2006/relationships/image" Target="../media/image511.png"/><Relationship Id="rId35" Type="http://schemas.openxmlformats.org/officeDocument/2006/relationships/image" Target="../media/image5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37168"/>
            <a:ext cx="12192000" cy="14478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4400" dirty="0">
                <a:solidFill>
                  <a:srgbClr val="BB2C46"/>
                </a:solidFill>
              </a:rPr>
              <a:t>Multi-layer Perceptron Design</a:t>
            </a:r>
            <a:br>
              <a:rPr lang="en-US" sz="4400" dirty="0">
                <a:solidFill>
                  <a:srgbClr val="BB2C46"/>
                </a:solidFill>
              </a:rPr>
            </a:br>
            <a:r>
              <a:rPr lang="en-US" sz="4400" dirty="0">
                <a:solidFill>
                  <a:srgbClr val="BB2C46"/>
                </a:solidFill>
              </a:rPr>
              <a:t>for Human Activity Recognition</a:t>
            </a:r>
            <a:endParaRPr lang="en-US" sz="4400" dirty="0">
              <a:solidFill>
                <a:srgbClr val="BB2C46"/>
              </a:solidFill>
              <a:latin typeface="PT Sans" panose="020B0503020203020204" pitchFamily="34" charset="77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-10841" y="4472204"/>
            <a:ext cx="12202841" cy="8617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100"/>
              </a:spcBef>
              <a:buClrTx/>
              <a:buSzPct val="111000"/>
              <a:buFont typeface="Wingdings" panose="05000000000000000000" pitchFamily="2" charset="2"/>
              <a:buNone/>
              <a:defRPr sz="23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None/>
              <a:defRPr sz="2100" b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ts val="33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ts val="33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ts val="33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endParaRPr lang="en-US" sz="3000" b="0" spc="-100">
              <a:solidFill>
                <a:schemeClr val="tx1"/>
              </a:solidFill>
              <a:latin typeface="PT Sans" panose="020B0503020203020204" pitchFamily="34" charset="77"/>
              <a:cs typeface="Latha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7AF7C1D-42CE-8942-9985-A54DFE28688C}"/>
              </a:ext>
            </a:extLst>
          </p:cNvPr>
          <p:cNvSpPr txBox="1">
            <a:spLocks/>
          </p:cNvSpPr>
          <p:nvPr/>
        </p:nvSpPr>
        <p:spPr>
          <a:xfrm>
            <a:off x="1" y="3810000"/>
            <a:ext cx="12181158" cy="662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100"/>
              </a:spcBef>
              <a:buClrTx/>
              <a:buSzPct val="111000"/>
              <a:buFont typeface="Wingdings" panose="05000000000000000000" pitchFamily="2" charset="2"/>
              <a:buNone/>
              <a:defRPr sz="23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None/>
              <a:defRPr sz="2100" b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ts val="33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ts val="33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ts val="33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300" spc="150">
              <a:solidFill>
                <a:schemeClr val="tx1"/>
              </a:solidFill>
              <a:latin typeface="PT Sans" panose="020B0503020203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33FDE-DA2A-374A-A5F4-4C9A9D7FA764}"/>
              </a:ext>
            </a:extLst>
          </p:cNvPr>
          <p:cNvSpPr txBox="1"/>
          <p:nvPr/>
        </p:nvSpPr>
        <p:spPr>
          <a:xfrm>
            <a:off x="4157701" y="2481716"/>
            <a:ext cx="3865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Fall 2026 – ECE Design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47F15-A4A4-FFF9-0015-36729AAB0BC6}"/>
              </a:ext>
            </a:extLst>
          </p:cNvPr>
          <p:cNvSpPr txBox="1"/>
          <p:nvPr/>
        </p:nvSpPr>
        <p:spPr>
          <a:xfrm>
            <a:off x="1108179" y="3595041"/>
            <a:ext cx="106155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Description Video</a:t>
            </a:r>
          </a:p>
          <a:p>
            <a:endParaRPr lang="en-US" dirty="0">
              <a:solidFill>
                <a:srgbClr val="56C7AA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rgbClr val="56C7A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https://uwmadison.zoom.us/rec/share/f0gPxcT_qa_EAfUAWKGF_MIoAXOaPPcNypBLNuIar7kwDw_2SHiqrBxl2Tw6PyrF.vc-Afy8A0IVq4mg8?startTime=1791924785000</a:t>
            </a:r>
            <a:endParaRPr lang="en-US" dirty="0"/>
          </a:p>
          <a:p>
            <a:endParaRPr lang="en-US" dirty="0"/>
          </a:p>
          <a:p>
            <a:r>
              <a:rPr lang="en-US" dirty="0"/>
              <a:t>Passcode: 11%&amp;XADF</a:t>
            </a:r>
          </a:p>
        </p:txBody>
      </p:sp>
    </p:spTree>
    <p:extLst>
      <p:ext uri="{BB962C8B-B14F-4D97-AF65-F5344CB8AC3E}">
        <p14:creationId xmlns:p14="http://schemas.microsoft.com/office/powerpoint/2010/main" val="261291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AAF2BF-F41B-FC40-8792-1E878A6AA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503" y="1219201"/>
            <a:ext cx="10972800" cy="5419492"/>
          </a:xfrm>
        </p:spPr>
        <p:txBody>
          <a:bodyPr>
            <a:normAutofit/>
          </a:bodyPr>
          <a:lstStyle/>
          <a:p>
            <a:r>
              <a:rPr lang="en-US" dirty="0"/>
              <a:t>Deep learning is currently perhaps the most popular application area</a:t>
            </a:r>
          </a:p>
          <a:p>
            <a:pPr lvl="1"/>
            <a:r>
              <a:rPr lang="en-US" dirty="0"/>
              <a:t>From applications to algorithms and hardware design</a:t>
            </a:r>
          </a:p>
          <a:p>
            <a:r>
              <a:rPr lang="en-US" dirty="0"/>
              <a:t>One can follow a modular hardware design methodology</a:t>
            </a:r>
          </a:p>
          <a:p>
            <a:pPr lvl="1"/>
            <a:r>
              <a:rPr lang="en-US" dirty="0"/>
              <a:t>Start from a basic building block a neuron</a:t>
            </a:r>
          </a:p>
          <a:p>
            <a:pPr lvl="1"/>
            <a:r>
              <a:rPr lang="en-US" dirty="0"/>
              <a:t>Form a hidden layer by instantiating neurons</a:t>
            </a:r>
          </a:p>
          <a:p>
            <a:pPr lvl="1"/>
            <a:r>
              <a:rPr lang="en-US" dirty="0"/>
              <a:t>Instantiate multiple hidden layers by reusing one hidden layer template</a:t>
            </a:r>
          </a:p>
          <a:p>
            <a:pPr lvl="2"/>
            <a:r>
              <a:rPr lang="en-US" dirty="0"/>
              <a:t>e.g., a parameterized number of layers can be pipelined</a:t>
            </a:r>
          </a:p>
          <a:p>
            <a:r>
              <a:rPr lang="en-US" dirty="0"/>
              <a:t>The basic building block itself involves fundamental components</a:t>
            </a:r>
          </a:p>
          <a:p>
            <a:pPr lvl="1"/>
            <a:r>
              <a:rPr lang="en-US" dirty="0"/>
              <a:t>Adder</a:t>
            </a:r>
          </a:p>
          <a:p>
            <a:pPr lvl="1"/>
            <a:r>
              <a:rPr lang="en-US" dirty="0"/>
              <a:t>Shifter</a:t>
            </a:r>
          </a:p>
          <a:p>
            <a:pPr lvl="1"/>
            <a:r>
              <a:rPr lang="en-US" dirty="0"/>
              <a:t>Multiplier (simplified version)</a:t>
            </a:r>
          </a:p>
          <a:p>
            <a:pPr lvl="1"/>
            <a:r>
              <a:rPr lang="en-US" dirty="0"/>
              <a:t>Multiplexer </a:t>
            </a:r>
          </a:p>
          <a:p>
            <a:pPr marL="341313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9C985C-16C6-F842-B232-533C5F03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the Project</a:t>
            </a:r>
          </a:p>
        </p:txBody>
      </p:sp>
    </p:spTree>
    <p:extLst>
      <p:ext uri="{BB962C8B-B14F-4D97-AF65-F5344CB8AC3E}">
        <p14:creationId xmlns:p14="http://schemas.microsoft.com/office/powerpoint/2010/main" val="87495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AAF2BF-F41B-FC40-8792-1E878A6AA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192" y="1037744"/>
            <a:ext cx="11407365" cy="1491116"/>
          </a:xfrm>
        </p:spPr>
        <p:txBody>
          <a:bodyPr>
            <a:normAutofit/>
          </a:bodyPr>
          <a:lstStyle/>
          <a:p>
            <a:r>
              <a:rPr lang="en-US" sz="2200" dirty="0"/>
              <a:t>An opportunity for you to</a:t>
            </a:r>
          </a:p>
          <a:p>
            <a:pPr lvl="1"/>
            <a:r>
              <a:rPr lang="en-US" sz="2000" dirty="0"/>
              <a:t>Design the basic building block of a fundamental architecture</a:t>
            </a:r>
          </a:p>
          <a:p>
            <a:pPr lvl="1"/>
            <a:r>
              <a:rPr lang="en-US" sz="2000" dirty="0"/>
              <a:t>Practice design and layout skills on fundamental </a:t>
            </a:r>
            <a:r>
              <a:rPr lang="en-US" sz="2000" dirty="0" err="1"/>
              <a:t>datapath</a:t>
            </a:r>
            <a:r>
              <a:rPr lang="en-US" sz="2000" dirty="0"/>
              <a:t> components (e.g., adder, shifter)</a:t>
            </a:r>
          </a:p>
          <a:p>
            <a:pPr lvl="1"/>
            <a:r>
              <a:rPr lang="en-US" sz="2000" dirty="0"/>
              <a:t>Learn how to contribute towards a system-level goal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9C985C-16C6-F842-B232-533C5F03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the Project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9B356F-CFDA-364A-94DA-1F23E7DBF43C}"/>
              </a:ext>
            </a:extLst>
          </p:cNvPr>
          <p:cNvGrpSpPr/>
          <p:nvPr/>
        </p:nvGrpSpPr>
        <p:grpSpPr>
          <a:xfrm>
            <a:off x="626388" y="3093224"/>
            <a:ext cx="742384" cy="2580238"/>
            <a:chOff x="2009869" y="3681259"/>
            <a:chExt cx="742384" cy="258023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ACB33D5-F15B-4241-8FD1-66F600A2A897}"/>
                </a:ext>
              </a:extLst>
            </p:cNvPr>
            <p:cNvSpPr/>
            <p:nvPr/>
          </p:nvSpPr>
          <p:spPr>
            <a:xfrm>
              <a:off x="2009869" y="3681259"/>
              <a:ext cx="742384" cy="258023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13D931B-D158-C649-92C8-95BE61B50D7A}"/>
                </a:ext>
              </a:extLst>
            </p:cNvPr>
            <p:cNvSpPr/>
            <p:nvPr/>
          </p:nvSpPr>
          <p:spPr>
            <a:xfrm>
              <a:off x="2183276" y="3913135"/>
              <a:ext cx="402336" cy="40233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813D33E-3206-4C4B-8DD9-BC86BA67854C}"/>
                </a:ext>
              </a:extLst>
            </p:cNvPr>
            <p:cNvSpPr/>
            <p:nvPr/>
          </p:nvSpPr>
          <p:spPr>
            <a:xfrm>
              <a:off x="2183276" y="4483503"/>
              <a:ext cx="402336" cy="402336"/>
            </a:xfrm>
            <a:prstGeom prst="ellipse">
              <a:avLst/>
            </a:prstGeom>
            <a:solidFill>
              <a:srgbClr val="9B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08AA08-3170-0B4F-A036-DF31A3B9F72C}"/>
                </a:ext>
              </a:extLst>
            </p:cNvPr>
            <p:cNvSpPr/>
            <p:nvPr/>
          </p:nvSpPr>
          <p:spPr>
            <a:xfrm>
              <a:off x="2183276" y="5053871"/>
              <a:ext cx="402336" cy="40233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EBD52E-9614-394D-8F52-0D5A89D8F3C5}"/>
                </a:ext>
              </a:extLst>
            </p:cNvPr>
            <p:cNvSpPr/>
            <p:nvPr/>
          </p:nvSpPr>
          <p:spPr>
            <a:xfrm>
              <a:off x="2183276" y="5624239"/>
              <a:ext cx="402336" cy="40233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07A8995-12CB-E94C-9017-6D22056DABCB}"/>
              </a:ext>
            </a:extLst>
          </p:cNvPr>
          <p:cNvSpPr txBox="1"/>
          <p:nvPr/>
        </p:nvSpPr>
        <p:spPr>
          <a:xfrm>
            <a:off x="255195" y="5733907"/>
            <a:ext cx="148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Input Layer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7C888A-7AAA-7C4E-8354-56DF18DADCA2}"/>
              </a:ext>
            </a:extLst>
          </p:cNvPr>
          <p:cNvGrpSpPr/>
          <p:nvPr/>
        </p:nvGrpSpPr>
        <p:grpSpPr>
          <a:xfrm>
            <a:off x="5337584" y="3093223"/>
            <a:ext cx="742384" cy="2580237"/>
            <a:chOff x="7988540" y="3681258"/>
            <a:chExt cx="742384" cy="258023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F91450F-988F-B247-AF91-FBBD1F1D52F5}"/>
                </a:ext>
              </a:extLst>
            </p:cNvPr>
            <p:cNvSpPr/>
            <p:nvPr/>
          </p:nvSpPr>
          <p:spPr>
            <a:xfrm>
              <a:off x="7988540" y="3681258"/>
              <a:ext cx="742384" cy="258023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1F5B13F-F037-8741-BACD-4BE015AB1069}"/>
                </a:ext>
              </a:extLst>
            </p:cNvPr>
            <p:cNvSpPr/>
            <p:nvPr/>
          </p:nvSpPr>
          <p:spPr>
            <a:xfrm>
              <a:off x="8150652" y="4111604"/>
              <a:ext cx="402336" cy="4023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7218DEE-666E-2548-96A7-C3331B76CB85}"/>
                </a:ext>
              </a:extLst>
            </p:cNvPr>
            <p:cNvSpPr/>
            <p:nvPr/>
          </p:nvSpPr>
          <p:spPr>
            <a:xfrm>
              <a:off x="8158564" y="4835881"/>
              <a:ext cx="402336" cy="4023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E63536C-4FAB-B948-8324-408BCFBB4CC8}"/>
                </a:ext>
              </a:extLst>
            </p:cNvPr>
            <p:cNvSpPr/>
            <p:nvPr/>
          </p:nvSpPr>
          <p:spPr>
            <a:xfrm>
              <a:off x="8158564" y="5529721"/>
              <a:ext cx="402336" cy="4023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100" b="1" dirty="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5734E29-2BA1-D047-9314-76E977688BA4}"/>
              </a:ext>
            </a:extLst>
          </p:cNvPr>
          <p:cNvSpPr/>
          <p:nvPr/>
        </p:nvSpPr>
        <p:spPr>
          <a:xfrm>
            <a:off x="1803340" y="3093224"/>
            <a:ext cx="3094585" cy="2580238"/>
          </a:xfrm>
          <a:prstGeom prst="roundRect">
            <a:avLst>
              <a:gd name="adj" fmla="val 6141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1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1B028F3-3FBB-394A-902B-33C40CE5FA56}"/>
              </a:ext>
            </a:extLst>
          </p:cNvPr>
          <p:cNvSpPr/>
          <p:nvPr/>
        </p:nvSpPr>
        <p:spPr>
          <a:xfrm>
            <a:off x="2698891" y="3493132"/>
            <a:ext cx="402336" cy="40233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1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512A17-E9C7-8044-83A9-281BF6D7414E}"/>
              </a:ext>
            </a:extLst>
          </p:cNvPr>
          <p:cNvSpPr/>
          <p:nvPr/>
        </p:nvSpPr>
        <p:spPr>
          <a:xfrm>
            <a:off x="2698891" y="4217409"/>
            <a:ext cx="402336" cy="402336"/>
          </a:xfrm>
          <a:prstGeom prst="ellipse">
            <a:avLst/>
          </a:prstGeom>
          <a:solidFill>
            <a:srgbClr val="9B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1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EF7A75-FAEA-BA4A-868B-0EA3236CB989}"/>
              </a:ext>
            </a:extLst>
          </p:cNvPr>
          <p:cNvSpPr/>
          <p:nvPr/>
        </p:nvSpPr>
        <p:spPr>
          <a:xfrm>
            <a:off x="2698891" y="4941686"/>
            <a:ext cx="402336" cy="40233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1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C9605B-F056-A940-B1A2-8A544F0A4047}"/>
              </a:ext>
            </a:extLst>
          </p:cNvPr>
          <p:cNvSpPr txBox="1"/>
          <p:nvPr/>
        </p:nvSpPr>
        <p:spPr>
          <a:xfrm>
            <a:off x="2407026" y="5733907"/>
            <a:ext cx="2199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Hidden Layer(s)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962021-2324-CE4D-849F-BB0D2F833F39}"/>
              </a:ext>
            </a:extLst>
          </p:cNvPr>
          <p:cNvSpPr txBox="1"/>
          <p:nvPr/>
        </p:nvSpPr>
        <p:spPr>
          <a:xfrm>
            <a:off x="4901326" y="5733907"/>
            <a:ext cx="161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Output Layer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E08D86-29B6-A74B-8152-C426DB72BDA1}"/>
              </a:ext>
            </a:extLst>
          </p:cNvPr>
          <p:cNvCxnSpPr>
            <a:cxnSpLocks/>
            <a:stCxn id="6" idx="6"/>
            <a:endCxn id="20" idx="1"/>
          </p:cNvCxnSpPr>
          <p:nvPr/>
        </p:nvCxnSpPr>
        <p:spPr>
          <a:xfrm>
            <a:off x="1202131" y="3526268"/>
            <a:ext cx="1555681" cy="25785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F733E84-5B39-E548-B9CF-B466B27E1819}"/>
              </a:ext>
            </a:extLst>
          </p:cNvPr>
          <p:cNvCxnSpPr>
            <a:cxnSpLocks/>
            <a:stCxn id="6" idx="6"/>
            <a:endCxn id="21" idx="1"/>
          </p:cNvCxnSpPr>
          <p:nvPr/>
        </p:nvCxnSpPr>
        <p:spPr>
          <a:xfrm>
            <a:off x="1202131" y="3526268"/>
            <a:ext cx="1555681" cy="750062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51EFB16-8839-9948-BBE5-F277A66F6BEA}"/>
              </a:ext>
            </a:extLst>
          </p:cNvPr>
          <p:cNvCxnSpPr>
            <a:cxnSpLocks/>
            <a:stCxn id="6" idx="6"/>
            <a:endCxn id="22" idx="1"/>
          </p:cNvCxnSpPr>
          <p:nvPr/>
        </p:nvCxnSpPr>
        <p:spPr>
          <a:xfrm>
            <a:off x="1202131" y="3526268"/>
            <a:ext cx="1555681" cy="1474339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416F527-B695-5D42-8C10-4FE2311906A5}"/>
              </a:ext>
            </a:extLst>
          </p:cNvPr>
          <p:cNvCxnSpPr>
            <a:cxnSpLocks/>
            <a:stCxn id="7" idx="6"/>
            <a:endCxn id="20" idx="2"/>
          </p:cNvCxnSpPr>
          <p:nvPr/>
        </p:nvCxnSpPr>
        <p:spPr>
          <a:xfrm flipV="1">
            <a:off x="1202131" y="3694300"/>
            <a:ext cx="1496760" cy="402336"/>
          </a:xfrm>
          <a:prstGeom prst="straightConnector1">
            <a:avLst/>
          </a:prstGeom>
          <a:ln w="1587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C153E04-CFA9-D14A-9C63-9863C902F679}"/>
              </a:ext>
            </a:extLst>
          </p:cNvPr>
          <p:cNvCxnSpPr>
            <a:cxnSpLocks/>
            <a:stCxn id="7" idx="6"/>
            <a:endCxn id="21" idx="2"/>
          </p:cNvCxnSpPr>
          <p:nvPr/>
        </p:nvCxnSpPr>
        <p:spPr>
          <a:xfrm>
            <a:off x="1202131" y="4096636"/>
            <a:ext cx="1496760" cy="321941"/>
          </a:xfrm>
          <a:prstGeom prst="straightConnector1">
            <a:avLst/>
          </a:prstGeom>
          <a:ln w="1587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59AC7F-B960-1749-9DED-472948E0DDA2}"/>
              </a:ext>
            </a:extLst>
          </p:cNvPr>
          <p:cNvCxnSpPr>
            <a:cxnSpLocks/>
            <a:stCxn id="7" idx="6"/>
            <a:endCxn id="22" idx="2"/>
          </p:cNvCxnSpPr>
          <p:nvPr/>
        </p:nvCxnSpPr>
        <p:spPr>
          <a:xfrm>
            <a:off x="1202131" y="4096636"/>
            <a:ext cx="1496760" cy="1046218"/>
          </a:xfrm>
          <a:prstGeom prst="straightConnector1">
            <a:avLst/>
          </a:prstGeom>
          <a:ln w="1587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073B66E-DEDA-D84F-A42A-30A429139E85}"/>
              </a:ext>
            </a:extLst>
          </p:cNvPr>
          <p:cNvCxnSpPr>
            <a:cxnSpLocks/>
            <a:stCxn id="8" idx="6"/>
            <a:endCxn id="20" idx="3"/>
          </p:cNvCxnSpPr>
          <p:nvPr/>
        </p:nvCxnSpPr>
        <p:spPr>
          <a:xfrm flipV="1">
            <a:off x="1202131" y="3836547"/>
            <a:ext cx="1555681" cy="830457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B91E94F-092A-BD4B-B85F-F07A45FFFCDA}"/>
              </a:ext>
            </a:extLst>
          </p:cNvPr>
          <p:cNvCxnSpPr>
            <a:cxnSpLocks/>
            <a:stCxn id="8" idx="6"/>
            <a:endCxn id="21" idx="2"/>
          </p:cNvCxnSpPr>
          <p:nvPr/>
        </p:nvCxnSpPr>
        <p:spPr>
          <a:xfrm flipV="1">
            <a:off x="1202131" y="4418577"/>
            <a:ext cx="1496760" cy="248427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C76851B-60CD-D145-9587-FC14E4E6F012}"/>
              </a:ext>
            </a:extLst>
          </p:cNvPr>
          <p:cNvCxnSpPr>
            <a:cxnSpLocks/>
            <a:stCxn id="8" idx="6"/>
            <a:endCxn id="22" idx="2"/>
          </p:cNvCxnSpPr>
          <p:nvPr/>
        </p:nvCxnSpPr>
        <p:spPr>
          <a:xfrm>
            <a:off x="1202131" y="4667004"/>
            <a:ext cx="1496760" cy="475850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1383387-0F85-D544-AE95-3EADFC231F70}"/>
              </a:ext>
            </a:extLst>
          </p:cNvPr>
          <p:cNvCxnSpPr>
            <a:cxnSpLocks/>
            <a:stCxn id="9" idx="6"/>
            <a:endCxn id="20" idx="3"/>
          </p:cNvCxnSpPr>
          <p:nvPr/>
        </p:nvCxnSpPr>
        <p:spPr>
          <a:xfrm flipV="1">
            <a:off x="1202131" y="3836547"/>
            <a:ext cx="1555681" cy="1400825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ED6A49E-46F7-8341-8348-492AACD18A11}"/>
              </a:ext>
            </a:extLst>
          </p:cNvPr>
          <p:cNvCxnSpPr>
            <a:cxnSpLocks/>
            <a:stCxn id="9" idx="6"/>
            <a:endCxn id="21" idx="3"/>
          </p:cNvCxnSpPr>
          <p:nvPr/>
        </p:nvCxnSpPr>
        <p:spPr>
          <a:xfrm flipV="1">
            <a:off x="1202131" y="4560824"/>
            <a:ext cx="1555681" cy="676548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998D24A-22A0-8344-B80E-28A608D8103F}"/>
              </a:ext>
            </a:extLst>
          </p:cNvPr>
          <p:cNvCxnSpPr>
            <a:cxnSpLocks/>
            <a:stCxn id="9" idx="6"/>
            <a:endCxn id="22" idx="3"/>
          </p:cNvCxnSpPr>
          <p:nvPr/>
        </p:nvCxnSpPr>
        <p:spPr>
          <a:xfrm>
            <a:off x="1202131" y="5237372"/>
            <a:ext cx="1555681" cy="47729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A3995317-ACED-0549-AD4A-42BEDC32260D}"/>
              </a:ext>
            </a:extLst>
          </p:cNvPr>
          <p:cNvSpPr/>
          <p:nvPr/>
        </p:nvSpPr>
        <p:spPr>
          <a:xfrm>
            <a:off x="3926322" y="3866984"/>
            <a:ext cx="402336" cy="40233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1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BA1535C-779A-C74C-8CAE-1345BD26C685}"/>
              </a:ext>
            </a:extLst>
          </p:cNvPr>
          <p:cNvSpPr/>
          <p:nvPr/>
        </p:nvSpPr>
        <p:spPr>
          <a:xfrm>
            <a:off x="3926322" y="4591261"/>
            <a:ext cx="402336" cy="40233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100" b="1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966E811-F23B-4144-B80E-9EB89F4F3CB8}"/>
              </a:ext>
            </a:extLst>
          </p:cNvPr>
          <p:cNvCxnSpPr>
            <a:cxnSpLocks/>
            <a:stCxn id="20" idx="6"/>
            <a:endCxn id="90" idx="1"/>
          </p:cNvCxnSpPr>
          <p:nvPr/>
        </p:nvCxnSpPr>
        <p:spPr>
          <a:xfrm>
            <a:off x="3101227" y="3694300"/>
            <a:ext cx="884016" cy="231605"/>
          </a:xfrm>
          <a:prstGeom prst="straightConnector1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2149F2D-8B45-2745-B66E-0CC715E05CBC}"/>
              </a:ext>
            </a:extLst>
          </p:cNvPr>
          <p:cNvCxnSpPr>
            <a:cxnSpLocks/>
            <a:stCxn id="20" idx="6"/>
            <a:endCxn id="91" idx="1"/>
          </p:cNvCxnSpPr>
          <p:nvPr/>
        </p:nvCxnSpPr>
        <p:spPr>
          <a:xfrm>
            <a:off x="3101227" y="3694300"/>
            <a:ext cx="884016" cy="955882"/>
          </a:xfrm>
          <a:prstGeom prst="straightConnector1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005624C-C048-6840-8D36-00B71E46F55D}"/>
              </a:ext>
            </a:extLst>
          </p:cNvPr>
          <p:cNvCxnSpPr>
            <a:cxnSpLocks/>
            <a:stCxn id="21" idx="6"/>
            <a:endCxn id="90" idx="2"/>
          </p:cNvCxnSpPr>
          <p:nvPr/>
        </p:nvCxnSpPr>
        <p:spPr>
          <a:xfrm flipV="1">
            <a:off x="3101227" y="4068152"/>
            <a:ext cx="825095" cy="350425"/>
          </a:xfrm>
          <a:prstGeom prst="straightConnector1">
            <a:avLst/>
          </a:prstGeom>
          <a:ln w="1587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2E986AA-8B00-A04C-8055-6A00DF51415D}"/>
              </a:ext>
            </a:extLst>
          </p:cNvPr>
          <p:cNvCxnSpPr>
            <a:cxnSpLocks/>
            <a:stCxn id="21" idx="6"/>
            <a:endCxn id="91" idx="2"/>
          </p:cNvCxnSpPr>
          <p:nvPr/>
        </p:nvCxnSpPr>
        <p:spPr>
          <a:xfrm>
            <a:off x="3101227" y="4418577"/>
            <a:ext cx="825095" cy="373852"/>
          </a:xfrm>
          <a:prstGeom prst="straightConnector1">
            <a:avLst/>
          </a:prstGeom>
          <a:ln w="1587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CBEDEF5-5F71-8C41-AE6A-26190B4073BE}"/>
              </a:ext>
            </a:extLst>
          </p:cNvPr>
          <p:cNvCxnSpPr>
            <a:cxnSpLocks/>
            <a:stCxn id="22" idx="6"/>
            <a:endCxn id="91" idx="3"/>
          </p:cNvCxnSpPr>
          <p:nvPr/>
        </p:nvCxnSpPr>
        <p:spPr>
          <a:xfrm flipV="1">
            <a:off x="3101227" y="4934676"/>
            <a:ext cx="884016" cy="208178"/>
          </a:xfrm>
          <a:prstGeom prst="straightConnector1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F57B261-4A98-9446-8C1C-2806631CC4E4}"/>
              </a:ext>
            </a:extLst>
          </p:cNvPr>
          <p:cNvCxnSpPr>
            <a:cxnSpLocks/>
            <a:endCxn id="91" idx="3"/>
          </p:cNvCxnSpPr>
          <p:nvPr/>
        </p:nvCxnSpPr>
        <p:spPr>
          <a:xfrm flipV="1">
            <a:off x="3028801" y="4934676"/>
            <a:ext cx="956442" cy="208178"/>
          </a:xfrm>
          <a:prstGeom prst="straightConnector1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F9C7DB0-AA79-444E-9A3D-0CFE59F1F73E}"/>
              </a:ext>
            </a:extLst>
          </p:cNvPr>
          <p:cNvCxnSpPr>
            <a:cxnSpLocks/>
            <a:endCxn id="90" idx="3"/>
          </p:cNvCxnSpPr>
          <p:nvPr/>
        </p:nvCxnSpPr>
        <p:spPr>
          <a:xfrm flipV="1">
            <a:off x="3061033" y="4210399"/>
            <a:ext cx="924210" cy="925446"/>
          </a:xfrm>
          <a:prstGeom prst="straightConnector1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9E41240-5CD7-254D-B5C7-73F5B47367CB}"/>
              </a:ext>
            </a:extLst>
          </p:cNvPr>
          <p:cNvCxnSpPr>
            <a:cxnSpLocks/>
            <a:stCxn id="90" idx="6"/>
            <a:endCxn id="14" idx="2"/>
          </p:cNvCxnSpPr>
          <p:nvPr/>
        </p:nvCxnSpPr>
        <p:spPr>
          <a:xfrm flipV="1">
            <a:off x="4328658" y="3724737"/>
            <a:ext cx="1171038" cy="343415"/>
          </a:xfrm>
          <a:prstGeom prst="straightConnector1">
            <a:avLst/>
          </a:prstGeom>
          <a:ln w="1587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C89317F-ED60-C146-8362-1FB8821CB871}"/>
              </a:ext>
            </a:extLst>
          </p:cNvPr>
          <p:cNvCxnSpPr>
            <a:cxnSpLocks/>
            <a:stCxn id="90" idx="6"/>
            <a:endCxn id="15" idx="2"/>
          </p:cNvCxnSpPr>
          <p:nvPr/>
        </p:nvCxnSpPr>
        <p:spPr>
          <a:xfrm>
            <a:off x="4328658" y="4068152"/>
            <a:ext cx="1178950" cy="380862"/>
          </a:xfrm>
          <a:prstGeom prst="straightConnector1">
            <a:avLst/>
          </a:prstGeom>
          <a:ln w="1587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AE0252A-AC2B-2946-B4CE-C2712B4E4B97}"/>
              </a:ext>
            </a:extLst>
          </p:cNvPr>
          <p:cNvCxnSpPr>
            <a:cxnSpLocks/>
            <a:stCxn id="90" idx="6"/>
            <a:endCxn id="114" idx="1"/>
          </p:cNvCxnSpPr>
          <p:nvPr/>
        </p:nvCxnSpPr>
        <p:spPr>
          <a:xfrm>
            <a:off x="4328658" y="4068152"/>
            <a:ext cx="1237871" cy="932455"/>
          </a:xfrm>
          <a:prstGeom prst="straightConnector1">
            <a:avLst/>
          </a:prstGeom>
          <a:ln w="1587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22D5531-5CA7-8B46-8273-A667CCABE71E}"/>
              </a:ext>
            </a:extLst>
          </p:cNvPr>
          <p:cNvCxnSpPr>
            <a:cxnSpLocks/>
            <a:stCxn id="91" idx="6"/>
            <a:endCxn id="14" idx="3"/>
          </p:cNvCxnSpPr>
          <p:nvPr/>
        </p:nvCxnSpPr>
        <p:spPr>
          <a:xfrm flipV="1">
            <a:off x="4328658" y="3866984"/>
            <a:ext cx="1229959" cy="925445"/>
          </a:xfrm>
          <a:prstGeom prst="straightConnector1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52E9830-DEE8-8B4A-8F6C-528A27CAE78D}"/>
              </a:ext>
            </a:extLst>
          </p:cNvPr>
          <p:cNvCxnSpPr>
            <a:cxnSpLocks/>
            <a:stCxn id="91" idx="6"/>
            <a:endCxn id="15" idx="2"/>
          </p:cNvCxnSpPr>
          <p:nvPr/>
        </p:nvCxnSpPr>
        <p:spPr>
          <a:xfrm flipV="1">
            <a:off x="4328658" y="4449014"/>
            <a:ext cx="1178950" cy="343415"/>
          </a:xfrm>
          <a:prstGeom prst="straightConnector1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E2E14B1F-69DA-244A-8192-A2F7EAE7CB72}"/>
              </a:ext>
            </a:extLst>
          </p:cNvPr>
          <p:cNvCxnSpPr>
            <a:cxnSpLocks/>
            <a:stCxn id="91" idx="6"/>
            <a:endCxn id="114" idx="2"/>
          </p:cNvCxnSpPr>
          <p:nvPr/>
        </p:nvCxnSpPr>
        <p:spPr>
          <a:xfrm>
            <a:off x="4328658" y="4792429"/>
            <a:ext cx="1178950" cy="350425"/>
          </a:xfrm>
          <a:prstGeom prst="straightConnector1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Content Placeholder 1">
            <a:extLst>
              <a:ext uri="{FF2B5EF4-FFF2-40B4-BE49-F238E27FC236}">
                <a16:creationId xmlns:a16="http://schemas.microsoft.com/office/drawing/2014/main" id="{09CC51AE-6EF4-0F48-9C48-D892D7F9AB09}"/>
              </a:ext>
            </a:extLst>
          </p:cNvPr>
          <p:cNvSpPr txBox="1">
            <a:spLocks/>
          </p:cNvSpPr>
          <p:nvPr/>
        </p:nvSpPr>
        <p:spPr>
          <a:xfrm>
            <a:off x="6646357" y="2443513"/>
            <a:ext cx="5406442" cy="42346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1752" indent="-301752" algn="l" defTabSz="914400" rtl="0" eaLnBrk="1" latinLnBrk="0" hangingPunct="1">
              <a:spcBef>
                <a:spcPts val="1100"/>
              </a:spcBef>
              <a:buClrTx/>
              <a:buSzPct val="111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1pPr>
            <a:lvl2pPr marL="573088" indent="-231775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–"/>
              <a:defRPr sz="2200" b="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2pPr>
            <a:lvl3pPr marL="739775" indent="-166688" algn="l" defTabSz="914400" rtl="0" eaLnBrk="1" latinLnBrk="0" hangingPunct="1">
              <a:spcBef>
                <a:spcPts val="33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3pPr>
            <a:lvl4pPr marL="1089025" indent="-290513" algn="l" defTabSz="914400" rtl="0" eaLnBrk="1" latinLnBrk="0" hangingPunct="1">
              <a:spcBef>
                <a:spcPts val="5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4pPr>
            <a:lvl5pPr marL="1371600" indent="-225425" algn="l" defTabSz="914400" rtl="0" eaLnBrk="1" latinLnBrk="0" hangingPunct="1">
              <a:spcBef>
                <a:spcPts val="5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000" dirty="0"/>
              <a:t>Input nodes</a:t>
            </a:r>
          </a:p>
          <a:p>
            <a:pPr lvl="1">
              <a:spcBef>
                <a:spcPts val="100"/>
              </a:spcBef>
            </a:pPr>
            <a:r>
              <a:rPr lang="en-US" sz="1800" dirty="0"/>
              <a:t>Simply pass the information from the environment without processing</a:t>
            </a:r>
          </a:p>
          <a:p>
            <a:pPr lvl="1">
              <a:spcBef>
                <a:spcPts val="100"/>
              </a:spcBef>
            </a:pPr>
            <a:r>
              <a:rPr lang="en-US" sz="1800" dirty="0"/>
              <a:t>Each input can be a pixel in an image, or a single sensor datapoint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Hidden layer(s)</a:t>
            </a:r>
          </a:p>
          <a:p>
            <a:pPr lvl="1">
              <a:spcBef>
                <a:spcPts val="100"/>
              </a:spcBef>
            </a:pPr>
            <a:r>
              <a:rPr lang="en-US" sz="1800" dirty="0"/>
              <a:t>Perform computations</a:t>
            </a:r>
          </a:p>
          <a:p>
            <a:pPr lvl="1">
              <a:spcBef>
                <a:spcPts val="100"/>
              </a:spcBef>
            </a:pPr>
            <a:r>
              <a:rPr lang="en-US" sz="1800" dirty="0"/>
              <a:t>Inner product of inputs and weights, followed by an activation function</a:t>
            </a:r>
          </a:p>
          <a:p>
            <a:pPr lvl="1">
              <a:spcBef>
                <a:spcPts val="100"/>
              </a:spcBef>
            </a:pPr>
            <a:r>
              <a:rPr lang="en-US" sz="1800" dirty="0"/>
              <a:t>Transfer the information towards the </a:t>
            </a:r>
            <a:r>
              <a:rPr lang="en-US" sz="1800" dirty="0" err="1"/>
              <a:t>ouput</a:t>
            </a:r>
            <a:endParaRPr lang="en-US" sz="1800" dirty="0"/>
          </a:p>
          <a:p>
            <a:pPr>
              <a:spcBef>
                <a:spcPts val="600"/>
              </a:spcBef>
            </a:pPr>
            <a:r>
              <a:rPr lang="en-US" sz="2000" dirty="0"/>
              <a:t>Output nodes</a:t>
            </a:r>
          </a:p>
          <a:p>
            <a:pPr lvl="1">
              <a:spcBef>
                <a:spcPts val="100"/>
              </a:spcBef>
            </a:pPr>
            <a:r>
              <a:rPr lang="en-US" sz="1800" dirty="0"/>
              <a:t>Convert the information from the network back to the environment (e.g., a classification result)</a:t>
            </a:r>
          </a:p>
        </p:txBody>
      </p:sp>
    </p:spTree>
    <p:extLst>
      <p:ext uri="{BB962C8B-B14F-4D97-AF65-F5344CB8AC3E}">
        <p14:creationId xmlns:p14="http://schemas.microsoft.com/office/powerpoint/2010/main" val="315034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B83F4E-6BFA-7D4F-9BA2-9EF08078C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83" y="989842"/>
            <a:ext cx="6607367" cy="58133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4950" indent="-234950">
              <a:spcBef>
                <a:spcPts val="700"/>
              </a:spcBef>
            </a:pPr>
            <a:r>
              <a:rPr lang="en-US" sz="2200" dirty="0"/>
              <a:t>Identify activities, such as walk, sit, and exercise</a:t>
            </a:r>
          </a:p>
          <a:p>
            <a:pPr marL="234950" indent="-234950">
              <a:spcBef>
                <a:spcPts val="700"/>
              </a:spcBef>
            </a:pPr>
            <a:endParaRPr lang="en-US" sz="2200" dirty="0"/>
          </a:p>
          <a:p>
            <a:pPr marL="234950" indent="-234950">
              <a:spcBef>
                <a:spcPts val="700"/>
              </a:spcBef>
            </a:pPr>
            <a:endParaRPr lang="en-US" sz="2200" dirty="0"/>
          </a:p>
          <a:p>
            <a:pPr marL="234950" indent="-234950">
              <a:spcBef>
                <a:spcPts val="2500"/>
              </a:spcBef>
            </a:pPr>
            <a:r>
              <a:rPr lang="en-US" sz="2200" dirty="0"/>
              <a:t>First step to solutions for movement disorders</a:t>
            </a:r>
          </a:p>
          <a:p>
            <a:pPr marL="234950" indent="-234950">
              <a:spcBef>
                <a:spcPts val="600"/>
              </a:spcBef>
            </a:pPr>
            <a:r>
              <a:rPr lang="en-US" sz="2200" dirty="0">
                <a:solidFill>
                  <a:srgbClr val="9B0000"/>
                </a:solidFill>
              </a:rPr>
              <a:t>Your task in this project</a:t>
            </a:r>
          </a:p>
          <a:p>
            <a:pPr marL="506286" lvl="1" indent="-234950">
              <a:spcBef>
                <a:spcPts val="600"/>
              </a:spcBef>
            </a:pPr>
            <a:r>
              <a:rPr lang="en-US" sz="2000" dirty="0"/>
              <a:t>A </a:t>
            </a:r>
            <a:r>
              <a:rPr lang="en-US" sz="2000" i="1" dirty="0"/>
              <a:t>*simplified* </a:t>
            </a:r>
            <a:r>
              <a:rPr lang="en-US" sz="2000" dirty="0"/>
              <a:t>version of the activity classifier design</a:t>
            </a:r>
          </a:p>
          <a:p>
            <a:pPr marL="506286" lvl="1" indent="-234950">
              <a:spcBef>
                <a:spcPts val="600"/>
              </a:spcBef>
            </a:pPr>
            <a:r>
              <a:rPr lang="en-US" sz="2000" dirty="0"/>
              <a:t>You will focus on only inference (forward </a:t>
            </a:r>
            <a:br>
              <a:rPr lang="en-US" sz="2000" dirty="0"/>
            </a:br>
            <a:r>
              <a:rPr lang="en-US" sz="2000" dirty="0"/>
              <a:t>pass), i.e., the weights are given to you</a:t>
            </a:r>
          </a:p>
          <a:p>
            <a:pPr marL="506286" lvl="1" indent="-234950">
              <a:spcBef>
                <a:spcPts val="600"/>
              </a:spcBef>
            </a:pPr>
            <a:r>
              <a:rPr lang="en-US" sz="2000" dirty="0"/>
              <a:t>It will classify two activities (i.e., binary output)</a:t>
            </a:r>
          </a:p>
          <a:p>
            <a:pPr marL="692150" lvl="2" indent="-179388">
              <a:spcBef>
                <a:spcPts val="0"/>
              </a:spcBef>
            </a:pPr>
            <a:r>
              <a:rPr lang="en-US" sz="1800" dirty="0"/>
              <a:t>Sit,  Run</a:t>
            </a:r>
          </a:p>
          <a:p>
            <a:pPr marL="506286" lvl="1" indent="-234950">
              <a:spcBef>
                <a:spcPts val="600"/>
              </a:spcBef>
            </a:pPr>
            <a:r>
              <a:rPr lang="en-US" sz="2000" dirty="0"/>
              <a:t>The inputs* are</a:t>
            </a:r>
          </a:p>
          <a:p>
            <a:pPr marL="692150" lvl="2" indent="-179388">
              <a:spcBef>
                <a:spcPts val="0"/>
              </a:spcBef>
            </a:pPr>
            <a:r>
              <a:rPr lang="en-US" sz="1800" dirty="0"/>
              <a:t>1D accelerometer measurement</a:t>
            </a:r>
          </a:p>
          <a:p>
            <a:pPr marL="692150" lvl="2" indent="-179388">
              <a:spcBef>
                <a:spcPts val="0"/>
              </a:spcBef>
            </a:pPr>
            <a:r>
              <a:rPr lang="en-US" sz="1800" dirty="0"/>
              <a:t>Stretch sensor attached on a knee sleeve</a:t>
            </a:r>
          </a:p>
          <a:p>
            <a:pPr marL="506286" lvl="1" indent="-234950">
              <a:spcBef>
                <a:spcPts val="600"/>
              </a:spcBef>
            </a:pPr>
            <a:r>
              <a:rPr lang="en-US" sz="2000" dirty="0">
                <a:solidFill>
                  <a:prstClr val="black"/>
                </a:solidFill>
              </a:rPr>
              <a:t>*You do not need to worry about the application or input; everything you need will be given to you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E5DDF9-425E-A24C-BA63-49FE2E2C0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System—level View: Human Activity Recognition (HAR)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EB11A4-A8C1-164A-8ABF-60514D6F17C3}"/>
              </a:ext>
            </a:extLst>
          </p:cNvPr>
          <p:cNvGrpSpPr/>
          <p:nvPr/>
        </p:nvGrpSpPr>
        <p:grpSpPr>
          <a:xfrm>
            <a:off x="6988633" y="1156824"/>
            <a:ext cx="4822368" cy="5015376"/>
            <a:chOff x="381000" y="1030059"/>
            <a:chExt cx="5181600" cy="538898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1747B31-F035-E24C-BF3E-F3BDCE90A1C1}"/>
                </a:ext>
              </a:extLst>
            </p:cNvPr>
            <p:cNvGrpSpPr/>
            <p:nvPr/>
          </p:nvGrpSpPr>
          <p:grpSpPr>
            <a:xfrm>
              <a:off x="381000" y="3745053"/>
              <a:ext cx="2415304" cy="2615795"/>
              <a:chOff x="381000" y="3745053"/>
              <a:chExt cx="2415304" cy="2615795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4822398-A493-B549-8AF7-024E1ED455AA}"/>
                  </a:ext>
                </a:extLst>
              </p:cNvPr>
              <p:cNvSpPr/>
              <p:nvPr/>
            </p:nvSpPr>
            <p:spPr>
              <a:xfrm>
                <a:off x="2690283" y="3745053"/>
                <a:ext cx="106021" cy="10718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PT Sans" panose="020B0503020203020204" pitchFamily="34" charset="77"/>
                </a:endParaRPr>
              </a:p>
            </p:txBody>
          </p:sp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051ADFEE-2A47-D347-8441-947AAAB31313}"/>
                  </a:ext>
                </a:extLst>
              </p:cNvPr>
              <p:cNvSpPr/>
              <p:nvPr/>
            </p:nvSpPr>
            <p:spPr>
              <a:xfrm>
                <a:off x="381000" y="4479447"/>
                <a:ext cx="1393718" cy="1367246"/>
              </a:xfrm>
              <a:prstGeom prst="roundRect">
                <a:avLst>
                  <a:gd name="adj" fmla="val 5083"/>
                </a:avLst>
              </a:prstGeom>
              <a:solidFill>
                <a:schemeClr val="bg1">
                  <a:lumMod val="85000"/>
                </a:schemeClr>
              </a:solidFill>
              <a:ln w="66675">
                <a:solidFill>
                  <a:srgbClr val="9B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Classifier</a:t>
                </a:r>
                <a:endParaRPr lang="en-US" sz="1200" b="1" dirty="0">
                  <a:latin typeface="PT Sans" panose="020B0503020203020204" pitchFamily="34" charset="77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b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Design</a:t>
                </a:r>
                <a:endParaRPr lang="en-US" sz="1200" b="1" dirty="0">
                  <a:latin typeface="PT Sans" panose="020B0503020203020204" pitchFamily="34" charset="77"/>
                  <a:cs typeface="Arial" panose="020B0604020202020204" pitchFamily="34" charset="0"/>
                </a:endParaRPr>
              </a:p>
            </p:txBody>
          </p:sp>
          <p:cxnSp>
            <p:nvCxnSpPr>
              <p:cNvPr id="61" name="Elbow Connector 60">
                <a:extLst>
                  <a:ext uri="{FF2B5EF4-FFF2-40B4-BE49-F238E27FC236}">
                    <a16:creationId xmlns:a16="http://schemas.microsoft.com/office/drawing/2014/main" id="{769DD6E8-3B45-024E-A0F6-8EB5BBEBE3E3}"/>
                  </a:ext>
                </a:extLst>
              </p:cNvPr>
              <p:cNvCxnSpPr>
                <a:stCxn id="59" idx="4"/>
                <a:endCxn id="60" idx="0"/>
              </p:cNvCxnSpPr>
              <p:nvPr/>
            </p:nvCxnSpPr>
            <p:spPr>
              <a:xfrm rot="5400000">
                <a:off x="1596973" y="3333127"/>
                <a:ext cx="627208" cy="1665434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2F179AE-8D01-E84D-BD4D-5C03D7DB913D}"/>
                  </a:ext>
                </a:extLst>
              </p:cNvPr>
              <p:cNvSpPr/>
              <p:nvPr/>
            </p:nvSpPr>
            <p:spPr>
              <a:xfrm>
                <a:off x="1907900" y="3905893"/>
                <a:ext cx="735888" cy="21544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Offline</a:t>
                </a:r>
              </a:p>
            </p:txBody>
          </p:sp>
          <p:cxnSp>
            <p:nvCxnSpPr>
              <p:cNvPr id="63" name="Elbow Connector 62">
                <a:extLst>
                  <a:ext uri="{FF2B5EF4-FFF2-40B4-BE49-F238E27FC236}">
                    <a16:creationId xmlns:a16="http://schemas.microsoft.com/office/drawing/2014/main" id="{C094CE9E-813E-C144-A00B-52696F65BE2B}"/>
                  </a:ext>
                </a:extLst>
              </p:cNvPr>
              <p:cNvCxnSpPr>
                <a:stCxn id="60" idx="2"/>
              </p:cNvCxnSpPr>
              <p:nvPr/>
            </p:nvCxnSpPr>
            <p:spPr>
              <a:xfrm rot="16200000" flipH="1">
                <a:off x="1407110" y="5517440"/>
                <a:ext cx="240517" cy="899019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252B275-C4B8-F04B-AA90-1F651FD1F69B}"/>
                  </a:ext>
                </a:extLst>
              </p:cNvPr>
              <p:cNvSpPr/>
              <p:nvPr/>
            </p:nvSpPr>
            <p:spPr>
              <a:xfrm>
                <a:off x="1083241" y="6145404"/>
                <a:ext cx="768804" cy="21544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Weights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A2D27A7-E8B5-8A48-A78F-D271504555B3}"/>
                </a:ext>
              </a:extLst>
            </p:cNvPr>
            <p:cNvGrpSpPr/>
            <p:nvPr/>
          </p:nvGrpSpPr>
          <p:grpSpPr>
            <a:xfrm>
              <a:off x="554662" y="1030059"/>
              <a:ext cx="1055160" cy="1156608"/>
              <a:chOff x="6486235" y="1132605"/>
              <a:chExt cx="828558" cy="898341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EF571D44-2707-CE4D-BD7B-1C2EF841E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86235" y="1360873"/>
                <a:ext cx="758329" cy="670073"/>
              </a:xfrm>
              <a:prstGeom prst="rect">
                <a:avLst/>
              </a:prstGeom>
            </p:spPr>
          </p:pic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FB861F37-4846-3F43-AC5A-FEFBC4504BB7}"/>
                  </a:ext>
                </a:extLst>
              </p:cNvPr>
              <p:cNvSpPr/>
              <p:nvPr/>
            </p:nvSpPr>
            <p:spPr>
              <a:xfrm>
                <a:off x="6487796" y="1132605"/>
                <a:ext cx="826997" cy="167336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Stretch Sensor</a:t>
                </a:r>
              </a:p>
            </p:txBody>
          </p:sp>
        </p:grp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F568E81-B083-094A-919A-098BF3EAC53D}"/>
                </a:ext>
              </a:extLst>
            </p:cNvPr>
            <p:cNvSpPr/>
            <p:nvPr/>
          </p:nvSpPr>
          <p:spPr>
            <a:xfrm>
              <a:off x="2346000" y="1050619"/>
              <a:ext cx="3216600" cy="623770"/>
            </a:xfrm>
            <a:prstGeom prst="roundRect">
              <a:avLst>
                <a:gd name="adj" fmla="val 8075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latin typeface="PT Sans" panose="020B0503020203020204" pitchFamily="34" charset="77"/>
                <a:cs typeface="Arial" panose="020B0604020202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B6FB69A-7E64-5B41-81C7-CC369ED18CB2}"/>
                </a:ext>
              </a:extLst>
            </p:cNvPr>
            <p:cNvCxnSpPr>
              <a:cxnSpLocks/>
            </p:cNvCxnSpPr>
            <p:nvPr/>
          </p:nvCxnSpPr>
          <p:spPr>
            <a:xfrm>
              <a:off x="1541121" y="1350561"/>
              <a:ext cx="80487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1750887-0231-034D-BA28-94FBE422DF71}"/>
                </a:ext>
              </a:extLst>
            </p:cNvPr>
            <p:cNvSpPr/>
            <p:nvPr/>
          </p:nvSpPr>
          <p:spPr>
            <a:xfrm>
              <a:off x="2111334" y="1741533"/>
              <a:ext cx="1805503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1400" b="1" i="1" dirty="0">
                  <a:latin typeface="PT Sans" panose="020B0503020203020204" pitchFamily="34" charset="77"/>
                  <a:cs typeface="Arial" panose="020B0604020202020204" pitchFamily="34" charset="0"/>
                </a:rPr>
                <a:t>Window Boundaries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93C0C54-DD88-7544-8E0C-53A5D2517ECD}"/>
                </a:ext>
              </a:extLst>
            </p:cNvPr>
            <p:cNvCxnSpPr>
              <a:cxnSpLocks/>
              <a:stCxn id="24" idx="2"/>
              <a:endCxn id="42" idx="0"/>
            </p:cNvCxnSpPr>
            <p:nvPr/>
          </p:nvCxnSpPr>
          <p:spPr>
            <a:xfrm flipH="1">
              <a:off x="3948173" y="1674389"/>
              <a:ext cx="6127" cy="39944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375A213-8FF1-A64D-8BEB-2DC7B8FCF9C6}"/>
                </a:ext>
              </a:extLst>
            </p:cNvPr>
            <p:cNvGrpSpPr/>
            <p:nvPr/>
          </p:nvGrpSpPr>
          <p:grpSpPr>
            <a:xfrm>
              <a:off x="548639" y="2567249"/>
              <a:ext cx="1097057" cy="1288901"/>
              <a:chOff x="6299758" y="3235397"/>
              <a:chExt cx="861457" cy="100109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6C4D2CB-ED42-B648-9F08-7C3BAFCE0732}"/>
                  </a:ext>
                </a:extLst>
              </p:cNvPr>
              <p:cNvGrpSpPr/>
              <p:nvPr/>
            </p:nvGrpSpPr>
            <p:grpSpPr>
              <a:xfrm>
                <a:off x="6308231" y="3426804"/>
                <a:ext cx="852984" cy="809686"/>
                <a:chOff x="8062175" y="4816699"/>
                <a:chExt cx="1184856" cy="1124712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089FB6AE-5F05-254E-B672-DE8512B01754}"/>
                    </a:ext>
                  </a:extLst>
                </p:cNvPr>
                <p:cNvCxnSpPr/>
                <p:nvPr/>
              </p:nvCxnSpPr>
              <p:spPr>
                <a:xfrm flipV="1">
                  <a:off x="8621779" y="5147665"/>
                  <a:ext cx="625252" cy="252158"/>
                </a:xfrm>
                <a:prstGeom prst="straightConnector1">
                  <a:avLst/>
                </a:prstGeom>
                <a:ln w="28575">
                  <a:solidFill>
                    <a:schemeClr val="accent6">
                      <a:lumMod val="75000"/>
                    </a:schemeClr>
                  </a:solidFill>
                  <a:headEnd type="none" w="lg" len="med"/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9E9C80C-61FD-5A4C-B518-A92C945B0412}"/>
                    </a:ext>
                  </a:extLst>
                </p:cNvPr>
                <p:cNvSpPr/>
                <p:nvPr/>
              </p:nvSpPr>
              <p:spPr>
                <a:xfrm>
                  <a:off x="8298712" y="5121483"/>
                  <a:ext cx="677863" cy="55697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cene3d>
                  <a:camera prst="isometricOffAxis2Left"/>
                  <a:lightRig rig="freezing" dir="t"/>
                </a:scene3d>
                <a:sp3d extrusionH="69850" prstMaterial="plastic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PT Sans" panose="020B0503020203020204" pitchFamily="34" charset="77"/>
                  </a:endParaRPr>
                </a:p>
              </p:txBody>
            </p: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23601A9A-2616-E54E-AA91-70AB00404F3F}"/>
                    </a:ext>
                  </a:extLst>
                </p:cNvPr>
                <p:cNvCxnSpPr/>
                <p:nvPr/>
              </p:nvCxnSpPr>
              <p:spPr>
                <a:xfrm>
                  <a:off x="8062175" y="5316894"/>
                  <a:ext cx="1126902" cy="165858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stealth" w="lg" len="med"/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916B61F4-B6D5-1E4B-B6FB-A5EF3DD1D069}"/>
                    </a:ext>
                  </a:extLst>
                </p:cNvPr>
                <p:cNvCxnSpPr/>
                <p:nvPr/>
              </p:nvCxnSpPr>
              <p:spPr>
                <a:xfrm>
                  <a:off x="8645309" y="4816699"/>
                  <a:ext cx="0" cy="1124712"/>
                </a:xfrm>
                <a:prstGeom prst="straightConnector1">
                  <a:avLst/>
                </a:prstGeom>
                <a:ln w="28575">
                  <a:solidFill>
                    <a:srgbClr val="3333FF"/>
                  </a:solidFill>
                  <a:headEnd type="stealth" w="lg" len="med"/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04E1E552-4B36-4143-B821-E5DA160D38CD}"/>
                    </a:ext>
                  </a:extLst>
                </p:cNvPr>
                <p:cNvSpPr/>
                <p:nvPr/>
              </p:nvSpPr>
              <p:spPr>
                <a:xfrm>
                  <a:off x="8570451" y="5317236"/>
                  <a:ext cx="149715" cy="149715"/>
                </a:xfrm>
                <a:prstGeom prst="ellipse">
                  <a:avLst/>
                </a:prstGeom>
                <a:solidFill>
                  <a:schemeClr val="bg1"/>
                </a:solidFill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PT Sans" panose="020B0503020203020204" pitchFamily="34" charset="77"/>
                  </a:endParaRPr>
                </a:p>
              </p:txBody>
            </p: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0D85B24B-4576-4B4B-BFFD-9FCCE1832BAF}"/>
                    </a:ext>
                  </a:extLst>
                </p:cNvPr>
                <p:cNvCxnSpPr/>
                <p:nvPr/>
              </p:nvCxnSpPr>
              <p:spPr>
                <a:xfrm flipV="1">
                  <a:off x="8086210" y="5417849"/>
                  <a:ext cx="529123" cy="213390"/>
                </a:xfrm>
                <a:prstGeom prst="straightConnector1">
                  <a:avLst/>
                </a:prstGeom>
                <a:ln w="28575">
                  <a:solidFill>
                    <a:schemeClr val="accent6">
                      <a:lumMod val="75000"/>
                    </a:schemeClr>
                  </a:solidFill>
                  <a:headEnd type="stealth" w="lg" len="med"/>
                  <a:tailEnd type="non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746E4D8-1ED2-B348-81E9-45D7152DF943}"/>
                  </a:ext>
                </a:extLst>
              </p:cNvPr>
              <p:cNvSpPr/>
              <p:nvPr/>
            </p:nvSpPr>
            <p:spPr>
              <a:xfrm>
                <a:off x="6299758" y="3235397"/>
                <a:ext cx="816927" cy="167336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Accelerometer</a:t>
                </a:r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7F3E1E4-E9B3-E34B-8C1F-E573DBED24FA}"/>
                </a:ext>
              </a:extLst>
            </p:cNvPr>
            <p:cNvSpPr/>
            <p:nvPr/>
          </p:nvSpPr>
          <p:spPr>
            <a:xfrm>
              <a:off x="1801301" y="1319194"/>
              <a:ext cx="58224" cy="58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T Sans" panose="020B0503020203020204" pitchFamily="34" charset="77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1DCD0B4-3C43-574B-A1D2-3AF2BCCCAA6C}"/>
                </a:ext>
              </a:extLst>
            </p:cNvPr>
            <p:cNvGrpSpPr/>
            <p:nvPr/>
          </p:nvGrpSpPr>
          <p:grpSpPr>
            <a:xfrm>
              <a:off x="1830414" y="1378057"/>
              <a:ext cx="3732186" cy="2924163"/>
              <a:chOff x="1830414" y="1378057"/>
              <a:chExt cx="3732186" cy="2924163"/>
            </a:xfrm>
          </p:grpSpPr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A22B8D24-B875-AD47-8E7D-ED8FF4CA5D12}"/>
                  </a:ext>
                </a:extLst>
              </p:cNvPr>
              <p:cNvSpPr/>
              <p:nvPr/>
            </p:nvSpPr>
            <p:spPr>
              <a:xfrm>
                <a:off x="2333745" y="2073830"/>
                <a:ext cx="3228855" cy="1782743"/>
              </a:xfrm>
              <a:prstGeom prst="roundRect">
                <a:avLst>
                  <a:gd name="adj" fmla="val 380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>
                  <a:latin typeface="PT Sans" panose="020B0503020203020204" pitchFamily="34" charset="77"/>
                  <a:cs typeface="Arial" panose="020B0604020202020204" pitchFamily="34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AF9F53B-429B-534E-9607-4D5FF6D4D298}"/>
                  </a:ext>
                </a:extLst>
              </p:cNvPr>
              <p:cNvSpPr/>
              <p:nvPr/>
            </p:nvSpPr>
            <p:spPr>
              <a:xfrm>
                <a:off x="2578841" y="3104471"/>
                <a:ext cx="2670568" cy="38850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PT Sans" panose="020B0503020203020204" pitchFamily="34" charset="77"/>
                    <a:cs typeface="Arial" panose="020B0604020202020204" pitchFamily="34" charset="0"/>
                  </a:rPr>
                  <a:t>Discrete Wavelet Transform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9E3C831-02D0-5E4E-B1EF-CFD6990AD196}"/>
                  </a:ext>
                </a:extLst>
              </p:cNvPr>
              <p:cNvSpPr/>
              <p:nvPr/>
            </p:nvSpPr>
            <p:spPr>
              <a:xfrm>
                <a:off x="2575211" y="2576852"/>
                <a:ext cx="2674196" cy="39075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PT Sans" panose="020B0503020203020204" pitchFamily="34" charset="77"/>
                    <a:cs typeface="Arial" panose="020B0604020202020204" pitchFamily="34" charset="0"/>
                  </a:rPr>
                  <a:t>Fast Fourier Transform</a:t>
                </a:r>
              </a:p>
            </p:txBody>
          </p:sp>
          <p:cxnSp>
            <p:nvCxnSpPr>
              <p:cNvPr id="45" name="Elbow Connector 44">
                <a:extLst>
                  <a:ext uri="{FF2B5EF4-FFF2-40B4-BE49-F238E27FC236}">
                    <a16:creationId xmlns:a16="http://schemas.microsoft.com/office/drawing/2014/main" id="{13F952C7-AE65-204A-9621-F84A06EC1DEA}"/>
                  </a:ext>
                </a:extLst>
              </p:cNvPr>
              <p:cNvCxnSpPr>
                <a:cxnSpLocks/>
                <a:stCxn id="29" idx="4"/>
                <a:endCxn id="44" idx="1"/>
              </p:cNvCxnSpPr>
              <p:nvPr/>
            </p:nvCxnSpPr>
            <p:spPr>
              <a:xfrm rot="16200000" flipH="1">
                <a:off x="1505726" y="1702745"/>
                <a:ext cx="1394174" cy="744798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05B7C3C-B8C2-3143-A26A-09E1072116B2}"/>
                  </a:ext>
                </a:extLst>
              </p:cNvPr>
              <p:cNvCxnSpPr>
                <a:cxnSpLocks/>
                <a:endCxn id="43" idx="1"/>
              </p:cNvCxnSpPr>
              <p:nvPr/>
            </p:nvCxnSpPr>
            <p:spPr>
              <a:xfrm>
                <a:off x="1888752" y="3298723"/>
                <a:ext cx="69009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2E33CF2-366C-2646-99B9-E526C125C5DB}"/>
                  </a:ext>
                </a:extLst>
              </p:cNvPr>
              <p:cNvSpPr/>
              <p:nvPr/>
            </p:nvSpPr>
            <p:spPr>
              <a:xfrm>
                <a:off x="3011857" y="2115924"/>
                <a:ext cx="187262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prstClr val="black"/>
                    </a:solidFill>
                    <a:latin typeface="PT Sans" panose="020B0503020203020204" pitchFamily="34" charset="77"/>
                    <a:cs typeface="Arial" panose="020B0604020202020204" pitchFamily="34" charset="0"/>
                  </a:rPr>
                  <a:t>Feature Generation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9050EAC-5286-3047-8EAF-CAE360A5277B}"/>
                  </a:ext>
                </a:extLst>
              </p:cNvPr>
              <p:cNvSpPr/>
              <p:nvPr/>
            </p:nvSpPr>
            <p:spPr>
              <a:xfrm>
                <a:off x="3014085" y="3871333"/>
                <a:ext cx="785471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Feature</a:t>
                </a:r>
                <a:r>
                  <a:rPr lang="en-US" sz="1200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 </a:t>
                </a:r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Vectors</a:t>
                </a: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42D5AF3-AECE-D54D-97E9-A3D1C353E090}"/>
                </a:ext>
              </a:extLst>
            </p:cNvPr>
            <p:cNvSpPr/>
            <p:nvPr/>
          </p:nvSpPr>
          <p:spPr>
            <a:xfrm>
              <a:off x="2823594" y="1169483"/>
              <a:ext cx="234551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600" b="1" dirty="0">
                  <a:solidFill>
                    <a:prstClr val="black"/>
                  </a:solidFill>
                  <a:latin typeface="PT Sans" panose="020B0503020203020204" pitchFamily="34" charset="77"/>
                  <a:cs typeface="Arial" panose="020B0604020202020204" pitchFamily="34" charset="0"/>
                </a:rPr>
                <a:t>Segmentation Algorithm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2FC7137-960E-F442-8DC5-DAAD03B69109}"/>
                </a:ext>
              </a:extLst>
            </p:cNvPr>
            <p:cNvGrpSpPr/>
            <p:nvPr/>
          </p:nvGrpSpPr>
          <p:grpSpPr>
            <a:xfrm>
              <a:off x="1976877" y="3856573"/>
              <a:ext cx="3585723" cy="2562472"/>
              <a:chOff x="1976877" y="3856573"/>
              <a:chExt cx="3585723" cy="2562472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C3BE5458-ADDA-F747-BD83-981E75D210AE}"/>
                  </a:ext>
                </a:extLst>
              </p:cNvPr>
              <p:cNvSpPr/>
              <p:nvPr/>
            </p:nvSpPr>
            <p:spPr>
              <a:xfrm>
                <a:off x="1976877" y="4479445"/>
                <a:ext cx="3585723" cy="1939600"/>
              </a:xfrm>
              <a:prstGeom prst="roundRect">
                <a:avLst>
                  <a:gd name="adj" fmla="val 5083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57150"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>
                  <a:latin typeface="PT Sans" panose="020B0503020203020204" pitchFamily="34" charset="77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3754636-5745-3A44-9426-536324E8BEB4}"/>
                  </a:ext>
                </a:extLst>
              </p:cNvPr>
              <p:cNvSpPr/>
              <p:nvPr/>
            </p:nvSpPr>
            <p:spPr>
              <a:xfrm>
                <a:off x="3991976" y="4009376"/>
                <a:ext cx="693255" cy="21544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Online</a:t>
                </a: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612175F5-F127-5042-BA8B-65DDB1F38AC2}"/>
                  </a:ext>
                </a:extLst>
              </p:cNvPr>
              <p:cNvSpPr/>
              <p:nvPr/>
            </p:nvSpPr>
            <p:spPr>
              <a:xfrm>
                <a:off x="2250341" y="4892366"/>
                <a:ext cx="2551307" cy="372562"/>
              </a:xfrm>
              <a:prstGeom prst="round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PT Sans" panose="020B0503020203020204" pitchFamily="34" charset="77"/>
                    <a:cs typeface="Arial" panose="020B0604020202020204" pitchFamily="34" charset="0"/>
                  </a:rPr>
                  <a:t>Activity Classification</a:t>
                </a:r>
              </a:p>
            </p:txBody>
          </p:sp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E2208C8E-FA02-6C4C-BA4F-C36C1DD6B76C}"/>
                  </a:ext>
                </a:extLst>
              </p:cNvPr>
              <p:cNvSpPr/>
              <p:nvPr/>
            </p:nvSpPr>
            <p:spPr>
              <a:xfrm>
                <a:off x="2250341" y="5592367"/>
                <a:ext cx="2551308" cy="670281"/>
              </a:xfrm>
              <a:prstGeom prst="round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PT Sans" panose="020B0503020203020204" pitchFamily="34" charset="77"/>
                    <a:cs typeface="Arial" panose="020B0604020202020204" pitchFamily="34" charset="0"/>
                  </a:rPr>
                  <a:t>Weight update with </a:t>
                </a:r>
              </a:p>
              <a:p>
                <a:pPr algn="ctr"/>
                <a:r>
                  <a:rPr lang="en-US" sz="1400" dirty="0">
                    <a:latin typeface="PT Sans" panose="020B0503020203020204" pitchFamily="34" charset="77"/>
                    <a:cs typeface="Arial" panose="020B0604020202020204" pitchFamily="34" charset="0"/>
                  </a:rPr>
                  <a:t>Policy Gradient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51DC13E-99CC-1545-B686-6E0B18F79E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0059" y="5280597"/>
                <a:ext cx="0" cy="3225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31440E19-4124-5347-A038-27CF0C264A79}"/>
                  </a:ext>
                </a:extLst>
              </p:cNvPr>
              <p:cNvCxnSpPr>
                <a:cxnSpLocks/>
                <a:stCxn id="36" idx="3"/>
                <a:endCxn id="35" idx="3"/>
              </p:cNvCxnSpPr>
              <p:nvPr/>
            </p:nvCxnSpPr>
            <p:spPr>
              <a:xfrm flipH="1" flipV="1">
                <a:off x="4801649" y="5078647"/>
                <a:ext cx="1" cy="848861"/>
              </a:xfrm>
              <a:prstGeom prst="bentConnector3">
                <a:avLst>
                  <a:gd name="adj1" fmla="val -22860000000"/>
                </a:avLst>
              </a:prstGeom>
              <a:ln w="12700">
                <a:solidFill>
                  <a:schemeClr val="tx1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5BC2036-DEBA-1F4B-8633-338846BDF1C4}"/>
                  </a:ext>
                </a:extLst>
              </p:cNvPr>
              <p:cNvSpPr/>
              <p:nvPr/>
            </p:nvSpPr>
            <p:spPr>
              <a:xfrm>
                <a:off x="2198768" y="5314019"/>
                <a:ext cx="1327227" cy="21544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User</a:t>
                </a:r>
                <a:r>
                  <a:rPr lang="en-US" sz="1200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 </a:t>
                </a:r>
                <a:r>
                  <a:rPr lang="en-US" sz="1400" b="1" i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feedback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98F393C1-1147-8643-80EB-8D26A94EED83}"/>
                  </a:ext>
                </a:extLst>
              </p:cNvPr>
              <p:cNvCxnSpPr>
                <a:cxnSpLocks/>
                <a:stCxn id="42" idx="2"/>
              </p:cNvCxnSpPr>
              <p:nvPr/>
            </p:nvCxnSpPr>
            <p:spPr>
              <a:xfrm flipH="1">
                <a:off x="3937389" y="3856573"/>
                <a:ext cx="10784" cy="631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1A6ECDB-5F67-814C-866B-0F3D95A26820}"/>
                  </a:ext>
                </a:extLst>
              </p:cNvPr>
              <p:cNvSpPr/>
              <p:nvPr/>
            </p:nvSpPr>
            <p:spPr>
              <a:xfrm>
                <a:off x="2650951" y="4504062"/>
                <a:ext cx="2522715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latin typeface="PT Sans" panose="020B0503020203020204" pitchFamily="34" charset="77"/>
                    <a:cs typeface="Arial" panose="020B0604020202020204" pitchFamily="34" charset="0"/>
                  </a:rPr>
                  <a:t>Reinforcement Learning</a:t>
                </a:r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3C50CB1-C236-1C4C-8DD3-EFCB5D975E77}"/>
              </a:ext>
            </a:extLst>
          </p:cNvPr>
          <p:cNvSpPr txBox="1"/>
          <p:nvPr/>
        </p:nvSpPr>
        <p:spPr>
          <a:xfrm>
            <a:off x="6993557" y="6254559"/>
            <a:ext cx="5198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T Sans" panose="020B0503020203020204" pitchFamily="34" charset="77"/>
              </a:rPr>
              <a:t>[1] Bhat, Ganapati, et al. "Online human activity recognition using low-power wearable devices." </a:t>
            </a:r>
            <a:r>
              <a:rPr lang="en-US" sz="1200" i="1" dirty="0">
                <a:latin typeface="PT Sans" panose="020B0503020203020204" pitchFamily="34" charset="77"/>
              </a:rPr>
              <a:t>Intl. Conf. on Computer-Aided Design (ICCAD)</a:t>
            </a:r>
            <a:r>
              <a:rPr lang="en-US" sz="1200" dirty="0">
                <a:latin typeface="PT Sans" panose="020B0503020203020204" pitchFamily="34" charset="77"/>
              </a:rPr>
              <a:t>. IEEE, 2018.</a:t>
            </a:r>
            <a:endParaRPr lang="en-US" sz="1400" dirty="0">
              <a:latin typeface="PT Sans" panose="020B0503020203020204" pitchFamily="34" charset="77"/>
              <a:ea typeface="Arial" charset="0"/>
              <a:cs typeface="Arial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183AE159-437B-44EC-9989-BA099E6FE3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414" y="1486520"/>
            <a:ext cx="385857" cy="77171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7DA3B49-3D33-4A0C-BB97-710063144A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48" y="1468835"/>
            <a:ext cx="511565" cy="85127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C6FC1CD-2E18-4186-9FD8-CCF1690E71F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208" y="1384700"/>
            <a:ext cx="771650" cy="93541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787C96-821E-4BCD-88DA-F3F9A11F42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155" y="1728946"/>
            <a:ext cx="656980" cy="551016"/>
          </a:xfrm>
          <a:prstGeom prst="rect">
            <a:avLst/>
          </a:prstGeom>
        </p:spPr>
      </p:pic>
      <p:pic>
        <p:nvPicPr>
          <p:cNvPr id="74" name="Picture 73" descr="A close up of a logo&#10;&#10;Description automatically generated">
            <a:extLst>
              <a:ext uri="{FF2B5EF4-FFF2-40B4-BE49-F238E27FC236}">
                <a16:creationId xmlns:a16="http://schemas.microsoft.com/office/drawing/2014/main" id="{A9A213F9-4D8C-4219-9451-D8783FCB9C8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557" y="1476005"/>
            <a:ext cx="408241" cy="77565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26CDC4-BEEC-1241-84CB-28899D82290B}"/>
              </a:ext>
            </a:extLst>
          </p:cNvPr>
          <p:cNvCxnSpPr>
            <a:cxnSpLocks/>
            <a:stCxn id="60" idx="1"/>
          </p:cNvCxnSpPr>
          <p:nvPr/>
        </p:nvCxnSpPr>
        <p:spPr>
          <a:xfrm flipH="1" flipV="1">
            <a:off x="5776948" y="3833281"/>
            <a:ext cx="1211685" cy="1170020"/>
          </a:xfrm>
          <a:prstGeom prst="straightConnector1">
            <a:avLst/>
          </a:prstGeom>
          <a:ln w="47625">
            <a:solidFill>
              <a:srgbClr val="9B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30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7B516EA-6D48-C640-99D1-A9A734A8AAED}"/>
              </a:ext>
            </a:extLst>
          </p:cNvPr>
          <p:cNvSpPr/>
          <p:nvPr/>
        </p:nvSpPr>
        <p:spPr>
          <a:xfrm>
            <a:off x="2473588" y="1391177"/>
            <a:ext cx="3360813" cy="2510864"/>
          </a:xfrm>
          <a:prstGeom prst="roundRect">
            <a:avLst>
              <a:gd name="adj" fmla="val 964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7E6A60-A039-2845-9302-363675A03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Multi-layer Perceptron Operation and Weights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F2F050-A812-104A-9E82-3255868DA021}"/>
              </a:ext>
            </a:extLst>
          </p:cNvPr>
          <p:cNvSpPr/>
          <p:nvPr/>
        </p:nvSpPr>
        <p:spPr>
          <a:xfrm>
            <a:off x="1562863" y="1391177"/>
            <a:ext cx="742384" cy="25108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B8027C2-5276-2E4A-9E01-82C3D94F82E3}"/>
                  </a:ext>
                </a:extLst>
              </p:cNvPr>
              <p:cNvSpPr/>
              <p:nvPr/>
            </p:nvSpPr>
            <p:spPr>
              <a:xfrm>
                <a:off x="1736270" y="1623053"/>
                <a:ext cx="402336" cy="402336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B8027C2-5276-2E4A-9E01-82C3D94F8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270" y="1623053"/>
                <a:ext cx="402336" cy="402336"/>
              </a:xfrm>
              <a:prstGeom prst="ellipse">
                <a:avLst/>
              </a:prstGeom>
              <a:blipFill>
                <a:blip r:embed="rId3"/>
                <a:stretch>
                  <a:fillRect l="-17647"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F52DE2-FA0F-9B49-9F3B-6B60475F7485}"/>
                  </a:ext>
                </a:extLst>
              </p:cNvPr>
              <p:cNvSpPr/>
              <p:nvPr/>
            </p:nvSpPr>
            <p:spPr>
              <a:xfrm>
                <a:off x="1731204" y="2480128"/>
                <a:ext cx="402336" cy="402336"/>
              </a:xfrm>
              <a:prstGeom prst="ellipse">
                <a:avLst/>
              </a:prstGeom>
              <a:solidFill>
                <a:srgbClr val="9B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F52DE2-FA0F-9B49-9F3B-6B60475F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204" y="2480128"/>
                <a:ext cx="402336" cy="402336"/>
              </a:xfrm>
              <a:prstGeom prst="ellipse">
                <a:avLst/>
              </a:prstGeom>
              <a:blipFill>
                <a:blip r:embed="rId4"/>
                <a:stretch>
                  <a:fillRect l="-17647" b="-857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45FAF3C-FDE9-D646-9C79-F1D8DB54649C}"/>
              </a:ext>
            </a:extLst>
          </p:cNvPr>
          <p:cNvSpPr/>
          <p:nvPr/>
        </p:nvSpPr>
        <p:spPr>
          <a:xfrm>
            <a:off x="1736270" y="3341657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27286-920B-074F-BE5F-4269222EC686}"/>
              </a:ext>
            </a:extLst>
          </p:cNvPr>
          <p:cNvSpPr txBox="1"/>
          <p:nvPr/>
        </p:nvSpPr>
        <p:spPr>
          <a:xfrm>
            <a:off x="1396228" y="990941"/>
            <a:ext cx="1312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Input Layer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A6CA76-2D26-8A41-8A0F-4FB5FA646FA8}"/>
              </a:ext>
            </a:extLst>
          </p:cNvPr>
          <p:cNvSpPr/>
          <p:nvPr/>
        </p:nvSpPr>
        <p:spPr>
          <a:xfrm>
            <a:off x="6056787" y="1391176"/>
            <a:ext cx="742384" cy="25108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DF1493-9105-C341-8D8A-B3A044A8ADD8}"/>
              </a:ext>
            </a:extLst>
          </p:cNvPr>
          <p:cNvSpPr/>
          <p:nvPr/>
        </p:nvSpPr>
        <p:spPr>
          <a:xfrm>
            <a:off x="6226810" y="2480125"/>
            <a:ext cx="467455" cy="467455"/>
          </a:xfrm>
          <a:prstGeom prst="ellipse">
            <a:avLst/>
          </a:prstGeom>
          <a:solidFill>
            <a:schemeClr val="accent4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j-lt"/>
              </a:rPr>
              <a:t>0ut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08938BA-0441-D548-9168-8FA60CD4F6A7}"/>
              </a:ext>
            </a:extLst>
          </p:cNvPr>
          <p:cNvSpPr/>
          <p:nvPr/>
        </p:nvSpPr>
        <p:spPr>
          <a:xfrm>
            <a:off x="4024599" y="3337203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CF810-3F2A-9240-BFC4-074DB674EC99}"/>
              </a:ext>
            </a:extLst>
          </p:cNvPr>
          <p:cNvSpPr txBox="1"/>
          <p:nvPr/>
        </p:nvSpPr>
        <p:spPr>
          <a:xfrm>
            <a:off x="3187111" y="996681"/>
            <a:ext cx="2199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Hidden Layer(s)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0F65E-E6C1-9641-AAE1-5036C5357C29}"/>
              </a:ext>
            </a:extLst>
          </p:cNvPr>
          <p:cNvSpPr txBox="1"/>
          <p:nvPr/>
        </p:nvSpPr>
        <p:spPr>
          <a:xfrm>
            <a:off x="5617128" y="990941"/>
            <a:ext cx="1614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Output Layer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2C7562-9329-694C-AA3C-5891095239D1}"/>
              </a:ext>
            </a:extLst>
          </p:cNvPr>
          <p:cNvCxnSpPr>
            <a:cxnSpLocks/>
            <a:stCxn id="6" idx="6"/>
            <a:endCxn id="58" idx="2"/>
          </p:cNvCxnSpPr>
          <p:nvPr/>
        </p:nvCxnSpPr>
        <p:spPr>
          <a:xfrm>
            <a:off x="2138606" y="1824221"/>
            <a:ext cx="1885993" cy="0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D6022D-289A-2149-93D9-07AD7E9EBCE6}"/>
              </a:ext>
            </a:extLst>
          </p:cNvPr>
          <p:cNvCxnSpPr>
            <a:cxnSpLocks/>
            <a:stCxn id="6" idx="6"/>
            <a:endCxn id="59" idx="1"/>
          </p:cNvCxnSpPr>
          <p:nvPr/>
        </p:nvCxnSpPr>
        <p:spPr>
          <a:xfrm>
            <a:off x="2138606" y="1824221"/>
            <a:ext cx="1944914" cy="714828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A60707-1138-9C47-9D1B-8F5D8E792610}"/>
              </a:ext>
            </a:extLst>
          </p:cNvPr>
          <p:cNvCxnSpPr>
            <a:cxnSpLocks/>
            <a:stCxn id="7" idx="6"/>
            <a:endCxn id="58" idx="2"/>
          </p:cNvCxnSpPr>
          <p:nvPr/>
        </p:nvCxnSpPr>
        <p:spPr>
          <a:xfrm flipV="1">
            <a:off x="2133540" y="1824221"/>
            <a:ext cx="1891059" cy="857075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C253460-3E2F-BE43-8EE8-B4D2B8DC84DE}"/>
              </a:ext>
            </a:extLst>
          </p:cNvPr>
          <p:cNvCxnSpPr>
            <a:cxnSpLocks/>
            <a:stCxn id="7" idx="6"/>
            <a:endCxn id="59" idx="2"/>
          </p:cNvCxnSpPr>
          <p:nvPr/>
        </p:nvCxnSpPr>
        <p:spPr>
          <a:xfrm>
            <a:off x="2133540" y="2681296"/>
            <a:ext cx="1891059" cy="0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A76F4C-71F1-3D4E-85AF-21AA87F6DF46}"/>
              </a:ext>
            </a:extLst>
          </p:cNvPr>
          <p:cNvCxnSpPr>
            <a:cxnSpLocks/>
            <a:stCxn id="8" idx="6"/>
            <a:endCxn id="58" idx="3"/>
          </p:cNvCxnSpPr>
          <p:nvPr/>
        </p:nvCxnSpPr>
        <p:spPr>
          <a:xfrm flipV="1">
            <a:off x="2138606" y="1966468"/>
            <a:ext cx="1944914" cy="1576357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9C7C21-C247-9142-B6C3-95E6DE37054F}"/>
              </a:ext>
            </a:extLst>
          </p:cNvPr>
          <p:cNvCxnSpPr>
            <a:cxnSpLocks/>
            <a:stCxn id="8" idx="6"/>
            <a:endCxn id="59" idx="3"/>
          </p:cNvCxnSpPr>
          <p:nvPr/>
        </p:nvCxnSpPr>
        <p:spPr>
          <a:xfrm flipV="1">
            <a:off x="2138606" y="2823543"/>
            <a:ext cx="1944914" cy="719282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D330349-E562-9642-9B32-EF610F57E3E8}"/>
              </a:ext>
            </a:extLst>
          </p:cNvPr>
          <p:cNvSpPr txBox="1"/>
          <p:nvPr/>
        </p:nvSpPr>
        <p:spPr>
          <a:xfrm>
            <a:off x="170961" y="2362806"/>
            <a:ext cx="1388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Stretch sensor input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8FF2FE-488C-C94D-AFAF-2D926FA1170F}"/>
              </a:ext>
            </a:extLst>
          </p:cNvPr>
          <p:cNvSpPr txBox="1"/>
          <p:nvPr/>
        </p:nvSpPr>
        <p:spPr>
          <a:xfrm>
            <a:off x="6324" y="1539835"/>
            <a:ext cx="1668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Accelerometer input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D219E2-CAF0-EC4D-8A9D-630A5054FDC2}"/>
              </a:ext>
            </a:extLst>
          </p:cNvPr>
          <p:cNvSpPr txBox="1"/>
          <p:nvPr/>
        </p:nvSpPr>
        <p:spPr>
          <a:xfrm>
            <a:off x="678847" y="3403933"/>
            <a:ext cx="880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8937B3-ACAC-5D47-B2B0-59590929A9C6}"/>
                  </a:ext>
                </a:extLst>
              </p:cNvPr>
              <p:cNvSpPr/>
              <p:nvPr/>
            </p:nvSpPr>
            <p:spPr>
              <a:xfrm>
                <a:off x="4024599" y="1623053"/>
                <a:ext cx="402336" cy="40233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8937B3-ACAC-5D47-B2B0-59590929A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599" y="1623053"/>
                <a:ext cx="402336" cy="402336"/>
              </a:xfrm>
              <a:prstGeom prst="ellipse">
                <a:avLst/>
              </a:prstGeom>
              <a:blipFill>
                <a:blip r:embed="rId5"/>
                <a:stretch>
                  <a:fillRect l="-20588"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08FA9D4-9A38-EF41-BD0E-C350C2752189}"/>
                  </a:ext>
                </a:extLst>
              </p:cNvPr>
              <p:cNvSpPr/>
              <p:nvPr/>
            </p:nvSpPr>
            <p:spPr>
              <a:xfrm>
                <a:off x="4024599" y="2480128"/>
                <a:ext cx="402336" cy="40233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08FA9D4-9A38-EF41-BD0E-C350C2752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599" y="2480128"/>
                <a:ext cx="402336" cy="402336"/>
              </a:xfrm>
              <a:prstGeom prst="ellipse">
                <a:avLst/>
              </a:prstGeom>
              <a:blipFill>
                <a:blip r:embed="rId6"/>
                <a:stretch>
                  <a:fillRect l="-17647" b="-571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5600032-30F7-2E43-8E88-595344FCAF62}"/>
                  </a:ext>
                </a:extLst>
              </p:cNvPr>
              <p:cNvSpPr txBox="1"/>
              <p:nvPr/>
            </p:nvSpPr>
            <p:spPr>
              <a:xfrm>
                <a:off x="2684968" y="1530763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5600032-30F7-2E43-8E88-595344FCA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968" y="1530763"/>
                <a:ext cx="443619" cy="276999"/>
              </a:xfrm>
              <a:prstGeom prst="rect">
                <a:avLst/>
              </a:prstGeom>
              <a:blipFill>
                <a:blip r:embed="rId7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B36223-7B3D-F249-82EE-386505E2C14E}"/>
                  </a:ext>
                </a:extLst>
              </p:cNvPr>
              <p:cNvSpPr txBox="1"/>
              <p:nvPr/>
            </p:nvSpPr>
            <p:spPr>
              <a:xfrm>
                <a:off x="2684968" y="1816816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B36223-7B3D-F249-82EE-386505E2C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968" y="1816816"/>
                <a:ext cx="443619" cy="276999"/>
              </a:xfrm>
              <a:prstGeom prst="rect">
                <a:avLst/>
              </a:prstGeom>
              <a:blipFill>
                <a:blip r:embed="rId8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D4EC71E-414F-984A-A795-009D77F7B6F2}"/>
                  </a:ext>
                </a:extLst>
              </p:cNvPr>
              <p:cNvSpPr txBox="1"/>
              <p:nvPr/>
            </p:nvSpPr>
            <p:spPr>
              <a:xfrm>
                <a:off x="5146494" y="1816816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D4EC71E-414F-984A-A795-009D77F7B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494" y="1816816"/>
                <a:ext cx="443619" cy="276999"/>
              </a:xfrm>
              <a:prstGeom prst="rect">
                <a:avLst/>
              </a:prstGeom>
              <a:blipFill>
                <a:blip r:embed="rId9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B41034F-222F-5248-8396-4D7EE68AF9B6}"/>
                  </a:ext>
                </a:extLst>
              </p:cNvPr>
              <p:cNvSpPr txBox="1"/>
              <p:nvPr/>
            </p:nvSpPr>
            <p:spPr>
              <a:xfrm>
                <a:off x="2684967" y="2345375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B41034F-222F-5248-8396-4D7EE68AF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967" y="2345375"/>
                <a:ext cx="443619" cy="276999"/>
              </a:xfrm>
              <a:prstGeom prst="rect">
                <a:avLst/>
              </a:prstGeom>
              <a:blipFill>
                <a:blip r:embed="rId10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E3B7376-8839-1445-8438-550BDE237A6B}"/>
                  </a:ext>
                </a:extLst>
              </p:cNvPr>
              <p:cNvSpPr txBox="1"/>
              <p:nvPr/>
            </p:nvSpPr>
            <p:spPr>
              <a:xfrm>
                <a:off x="3045521" y="3124707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E3B7376-8839-1445-8438-550BDE237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521" y="3124707"/>
                <a:ext cx="443619" cy="276999"/>
              </a:xfrm>
              <a:prstGeom prst="rect">
                <a:avLst/>
              </a:prstGeom>
              <a:blipFill>
                <a:blip r:embed="rId11"/>
                <a:stretch>
                  <a:fillRect l="-5714" r="-2857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FD7A033-8D02-0F43-9E5B-0E57778E2C7E}"/>
                  </a:ext>
                </a:extLst>
              </p:cNvPr>
              <p:cNvSpPr txBox="1"/>
              <p:nvPr/>
            </p:nvSpPr>
            <p:spPr>
              <a:xfrm>
                <a:off x="3034754" y="2730729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FD7A033-8D02-0F43-9E5B-0E57778E2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754" y="2730729"/>
                <a:ext cx="443619" cy="276999"/>
              </a:xfrm>
              <a:prstGeom prst="rect">
                <a:avLst/>
              </a:prstGeom>
              <a:blipFill>
                <a:blip r:embed="rId12"/>
                <a:stretch>
                  <a:fillRect l="-5556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8E734A4-4F68-354D-BABA-690F0C742594}"/>
                  </a:ext>
                </a:extLst>
              </p:cNvPr>
              <p:cNvSpPr txBox="1"/>
              <p:nvPr/>
            </p:nvSpPr>
            <p:spPr>
              <a:xfrm>
                <a:off x="2480707" y="2622374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8E734A4-4F68-354D-BABA-690F0C742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707" y="2622374"/>
                <a:ext cx="443619" cy="276999"/>
              </a:xfrm>
              <a:prstGeom prst="rect">
                <a:avLst/>
              </a:prstGeom>
              <a:blipFill>
                <a:blip r:embed="rId13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F5F57D8-A85D-4845-8327-1576101A62C5}"/>
              </a:ext>
            </a:extLst>
          </p:cNvPr>
          <p:cNvCxnSpPr>
            <a:cxnSpLocks/>
            <a:stCxn id="58" idx="6"/>
            <a:endCxn id="14" idx="1"/>
          </p:cNvCxnSpPr>
          <p:nvPr/>
        </p:nvCxnSpPr>
        <p:spPr>
          <a:xfrm>
            <a:off x="4426935" y="1824221"/>
            <a:ext cx="1868332" cy="724361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AFB8EB0-B539-0A4F-B3BD-F5E36EC04BC2}"/>
              </a:ext>
            </a:extLst>
          </p:cNvPr>
          <p:cNvCxnSpPr>
            <a:cxnSpLocks/>
            <a:stCxn id="59" idx="6"/>
            <a:endCxn id="14" idx="2"/>
          </p:cNvCxnSpPr>
          <p:nvPr/>
        </p:nvCxnSpPr>
        <p:spPr>
          <a:xfrm>
            <a:off x="4426935" y="2681296"/>
            <a:ext cx="1799875" cy="3255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7560522-4A75-D344-839F-66643D82CCA8}"/>
              </a:ext>
            </a:extLst>
          </p:cNvPr>
          <p:cNvCxnSpPr>
            <a:cxnSpLocks/>
            <a:stCxn id="19" idx="6"/>
            <a:endCxn id="14" idx="3"/>
          </p:cNvCxnSpPr>
          <p:nvPr/>
        </p:nvCxnSpPr>
        <p:spPr>
          <a:xfrm flipV="1">
            <a:off x="4426935" y="2879123"/>
            <a:ext cx="1868332" cy="659248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257D1AB-40ED-1E4C-84F3-7063CE849DD1}"/>
                  </a:ext>
                </a:extLst>
              </p:cNvPr>
              <p:cNvSpPr txBox="1"/>
              <p:nvPr/>
            </p:nvSpPr>
            <p:spPr>
              <a:xfrm>
                <a:off x="5146494" y="2375959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257D1AB-40ED-1E4C-84F3-7063CE849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494" y="2375959"/>
                <a:ext cx="443619" cy="276999"/>
              </a:xfrm>
              <a:prstGeom prst="rect">
                <a:avLst/>
              </a:prstGeom>
              <a:blipFill>
                <a:blip r:embed="rId1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6A94AD-3CA2-134D-B548-14AF2242CEBD}"/>
                  </a:ext>
                </a:extLst>
              </p:cNvPr>
              <p:cNvSpPr txBox="1"/>
              <p:nvPr/>
            </p:nvSpPr>
            <p:spPr>
              <a:xfrm>
                <a:off x="5146494" y="2887334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6A94AD-3CA2-134D-B548-14AF2242C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494" y="2887334"/>
                <a:ext cx="443619" cy="276999"/>
              </a:xfrm>
              <a:prstGeom prst="rect">
                <a:avLst/>
              </a:prstGeom>
              <a:blipFill>
                <a:blip r:embed="rId15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5" name="Table 95">
                <a:extLst>
                  <a:ext uri="{FF2B5EF4-FFF2-40B4-BE49-F238E27FC236}">
                    <a16:creationId xmlns:a16="http://schemas.microsoft.com/office/drawing/2014/main" id="{40A2E123-65AC-024C-9086-64D525FB31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4151595"/>
                  </p:ext>
                </p:extLst>
              </p:nvPr>
            </p:nvGraphicFramePr>
            <p:xfrm>
              <a:off x="1034325" y="4592239"/>
              <a:ext cx="628835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0565">
                      <a:extLst>
                        <a:ext uri="{9D8B030D-6E8A-4147-A177-3AD203B41FA5}">
                          <a16:colId xmlns:a16="http://schemas.microsoft.com/office/drawing/2014/main" val="2613702310"/>
                        </a:ext>
                      </a:extLst>
                    </a:gridCol>
                    <a:gridCol w="3018396">
                      <a:extLst>
                        <a:ext uri="{9D8B030D-6E8A-4147-A177-3AD203B41FA5}">
                          <a16:colId xmlns:a16="http://schemas.microsoft.com/office/drawing/2014/main" val="3104538149"/>
                        </a:ext>
                      </a:extLst>
                    </a:gridCol>
                    <a:gridCol w="2699389">
                      <a:extLst>
                        <a:ext uri="{9D8B030D-6E8A-4147-A177-3AD203B41FA5}">
                          <a16:colId xmlns:a16="http://schemas.microsoft.com/office/drawing/2014/main" val="2437461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2 (Neuron output)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68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25816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2622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𝑢𝑡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185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5" name="Table 95">
                <a:extLst>
                  <a:ext uri="{FF2B5EF4-FFF2-40B4-BE49-F238E27FC236}">
                    <a16:creationId xmlns:a16="http://schemas.microsoft.com/office/drawing/2014/main" id="{40A2E123-65AC-024C-9086-64D525FB31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4151595"/>
                  </p:ext>
                </p:extLst>
              </p:nvPr>
            </p:nvGraphicFramePr>
            <p:xfrm>
              <a:off x="1034325" y="4592239"/>
              <a:ext cx="628835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0565">
                      <a:extLst>
                        <a:ext uri="{9D8B030D-6E8A-4147-A177-3AD203B41FA5}">
                          <a16:colId xmlns:a16="http://schemas.microsoft.com/office/drawing/2014/main" val="2613702310"/>
                        </a:ext>
                      </a:extLst>
                    </a:gridCol>
                    <a:gridCol w="3018396">
                      <a:extLst>
                        <a:ext uri="{9D8B030D-6E8A-4147-A177-3AD203B41FA5}">
                          <a16:colId xmlns:a16="http://schemas.microsoft.com/office/drawing/2014/main" val="3104538149"/>
                        </a:ext>
                      </a:extLst>
                    </a:gridCol>
                    <a:gridCol w="2699389">
                      <a:extLst>
                        <a:ext uri="{9D8B030D-6E8A-4147-A177-3AD203B41FA5}">
                          <a16:colId xmlns:a16="http://schemas.microsoft.com/office/drawing/2014/main" val="2437461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2 (Neuron output)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68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64" t="-108197" r="-1003191" b="-2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153" t="-108197" r="-90121" b="-2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409" t="-108197" r="-903" b="-2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25816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64" t="-208197" r="-1003191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153" t="-208197" r="-90121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409" t="-208197" r="-903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2622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64" t="-308197" r="-100319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153" t="-308197" r="-9012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409" t="-308197" r="-903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185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E7B625-EAFA-554D-8435-7EE99C662048}"/>
                  </a:ext>
                </a:extLst>
              </p:cNvPr>
              <p:cNvSpPr txBox="1"/>
              <p:nvPr/>
            </p:nvSpPr>
            <p:spPr>
              <a:xfrm>
                <a:off x="4343095" y="1523480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E7B625-EAFA-554D-8435-7EE99C662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095" y="1523480"/>
                <a:ext cx="443619" cy="276999"/>
              </a:xfrm>
              <a:prstGeom prst="rect">
                <a:avLst/>
              </a:prstGeom>
              <a:blipFill>
                <a:blip r:embed="rId1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F48FB27-5491-8D42-8668-778E917A6F32}"/>
                  </a:ext>
                </a:extLst>
              </p:cNvPr>
              <p:cNvSpPr txBox="1"/>
              <p:nvPr/>
            </p:nvSpPr>
            <p:spPr>
              <a:xfrm>
                <a:off x="4369145" y="2356813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F48FB27-5491-8D42-8668-778E917A6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145" y="2356813"/>
                <a:ext cx="443619" cy="276999"/>
              </a:xfrm>
              <a:prstGeom prst="rect">
                <a:avLst/>
              </a:prstGeom>
              <a:blipFill>
                <a:blip r:embed="rId1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1B0CB54-52FF-904F-AC96-E9C2013DBF08}"/>
                  </a:ext>
                </a:extLst>
              </p:cNvPr>
              <p:cNvSpPr txBox="1"/>
              <p:nvPr/>
            </p:nvSpPr>
            <p:spPr>
              <a:xfrm>
                <a:off x="6863480" y="2760865"/>
                <a:ext cx="83185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(sit/run)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1B0CB54-52FF-904F-AC96-E9C2013DB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480" y="2760865"/>
                <a:ext cx="831855" cy="553998"/>
              </a:xfrm>
              <a:prstGeom prst="rect">
                <a:avLst/>
              </a:prstGeom>
              <a:blipFill>
                <a:blip r:embed="rId19"/>
                <a:stretch>
                  <a:fillRect l="-18182" r="-1363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D88F264-231E-F14D-B8EE-6B39CD922BD4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6694265" y="2713853"/>
            <a:ext cx="537763" cy="0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3D404D4-7B45-8B4B-AE59-0874628733F3}"/>
              </a:ext>
            </a:extLst>
          </p:cNvPr>
          <p:cNvSpPr/>
          <p:nvPr/>
        </p:nvSpPr>
        <p:spPr>
          <a:xfrm>
            <a:off x="998113" y="4226051"/>
            <a:ext cx="6288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Computations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6323229-2D24-9C4C-A20F-D9A04A0B7B82}"/>
              </a:ext>
            </a:extLst>
          </p:cNvPr>
          <p:cNvSpPr txBox="1"/>
          <p:nvPr/>
        </p:nvSpPr>
        <p:spPr>
          <a:xfrm>
            <a:off x="1580887" y="6112049"/>
            <a:ext cx="2942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Inner product of the input and weights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0E2DF77-4ED6-5E44-9C9F-F21CA3167CA2}"/>
              </a:ext>
            </a:extLst>
          </p:cNvPr>
          <p:cNvSpPr txBox="1"/>
          <p:nvPr/>
        </p:nvSpPr>
        <p:spPr>
          <a:xfrm>
            <a:off x="4547922" y="6112049"/>
            <a:ext cx="2774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Activation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E621C14-B795-3740-A5F6-F4857E6ADC44}"/>
              </a:ext>
            </a:extLst>
          </p:cNvPr>
          <p:cNvSpPr/>
          <p:nvPr/>
        </p:nvSpPr>
        <p:spPr>
          <a:xfrm>
            <a:off x="7853383" y="1048401"/>
            <a:ext cx="41801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9B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MLP Network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Content Placeholder 1">
                <a:extLst>
                  <a:ext uri="{FF2B5EF4-FFF2-40B4-BE49-F238E27FC236}">
                    <a16:creationId xmlns:a16="http://schemas.microsoft.com/office/drawing/2014/main" id="{777C6230-8C54-BA48-9049-D15C4F8F09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83732" y="1507571"/>
                <a:ext cx="4501943" cy="48660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01752" indent="-301752" algn="l" defTabSz="914400" rtl="0" eaLnBrk="1" latinLnBrk="0" hangingPunct="1">
                  <a:spcBef>
                    <a:spcPts val="1100"/>
                  </a:spcBef>
                  <a:buClrTx/>
                  <a:buSzPct val="111000"/>
                  <a:buFont typeface="Wingdings" panose="05000000000000000000" pitchFamily="2" charset="2"/>
                  <a:buChar char="§"/>
                  <a:defRPr sz="2400" b="1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1pPr>
                <a:lvl2pPr marL="573088" indent="-231775" algn="l" defTabSz="914400" rtl="0" eaLnBrk="1" latinLnBrk="0" hangingPunct="1">
                  <a:spcBef>
                    <a:spcPts val="300"/>
                  </a:spcBef>
                  <a:buFont typeface="Arial" panose="020B0604020202020204" pitchFamily="34" charset="0"/>
                  <a:buChar char="–"/>
                  <a:defRPr sz="2200" b="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2pPr>
                <a:lvl3pPr marL="739775" indent="-166688" algn="l" defTabSz="914400" rtl="0" eaLnBrk="1" latinLnBrk="0" hangingPunct="1">
                  <a:spcBef>
                    <a:spcPts val="33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3pPr>
                <a:lvl4pPr marL="1089025" indent="-290513" algn="l" defTabSz="914400" rtl="0" eaLnBrk="1" latinLnBrk="0" hangingPunct="1"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4pPr>
                <a:lvl5pPr marL="1371600" indent="-225425" algn="l" defTabSz="914400" rtl="0" eaLnBrk="1" latinLnBrk="0" hangingPunct="1">
                  <a:spcBef>
                    <a:spcPts val="5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300"/>
                  </a:spcBef>
                </a:pPr>
                <a:r>
                  <a:rPr lang="en-US" sz="2000" b="0" dirty="0"/>
                  <a:t>Standard training algorithms, such as stochastic gradient descent (SGD), find the weights for a given supervised learning algorithm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b="0" dirty="0"/>
                  <a:t>For example, suppose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600" b="0" dirty="0"/>
                  <a:t> implies the activity is SIT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600" dirty="0"/>
                  <a:t> implies the activity is RUN</a:t>
                </a:r>
              </a:p>
              <a:p>
                <a:r>
                  <a:rPr lang="en-US" sz="1800" b="0" dirty="0"/>
                  <a:t>Training with known sensor data and labels will determine the weights, which will be given to you</a:t>
                </a:r>
              </a:p>
              <a:p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Assume that the weight are as follows: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600" b="1" dirty="0">
                    <a:solidFill>
                      <a:srgbClr val="002060"/>
                    </a:solidFill>
                  </a:rPr>
                  <a:t>,  </a:t>
                </a:r>
                <a:endParaRPr lang="en-US" sz="1600" b="1" strike="sngStrike" dirty="0">
                  <a:solidFill>
                    <a:srgbClr val="00206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𝟎𝟏</m:t>
                        </m:r>
                      </m:sub>
                    </m:sSub>
                    <m:r>
                      <a:rPr lang="en-US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1600" b="1" dirty="0">
                  <a:solidFill>
                    <a:srgbClr val="00206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  <m:r>
                      <m:rPr>
                        <m:nor/>
                      </m:rPr>
                      <a:rPr lang="en-US" sz="1600" b="1" i="0" dirty="0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m:t>= 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sub>
                    </m:sSub>
                    <m:r>
                      <m:rPr>
                        <m:nor/>
                      </m:rPr>
                      <a:rPr lang="en-US" sz="1600" b="1" i="0" dirty="0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m:t>= </m:t>
                    </m:r>
                    <m:r>
                      <m:rPr>
                        <m:nor/>
                      </m:rPr>
                      <a:rPr lang="en-US" sz="1600" b="1" i="0" dirty="0" smtClean="0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m:t>−1</m:t>
                    </m:r>
                  </m:oMath>
                </a14:m>
                <a:endParaRPr lang="en-US" sz="1600" b="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lvl="1"/>
                <a:endParaRPr lang="en-US" sz="1600" dirty="0"/>
              </a:p>
              <a:p>
                <a:pPr lvl="1"/>
                <a:endParaRPr lang="en-US" sz="1600" b="0" dirty="0"/>
              </a:p>
              <a:p>
                <a:pPr lvl="1"/>
                <a:endParaRPr lang="en-US" sz="1600" b="0" dirty="0"/>
              </a:p>
            </p:txBody>
          </p:sp>
        </mc:Choice>
        <mc:Fallback xmlns="">
          <p:sp>
            <p:nvSpPr>
              <p:cNvPr id="114" name="Content Placeholder 1">
                <a:extLst>
                  <a:ext uri="{FF2B5EF4-FFF2-40B4-BE49-F238E27FC236}">
                    <a16:creationId xmlns:a16="http://schemas.microsoft.com/office/drawing/2014/main" id="{777C6230-8C54-BA48-9049-D15C4F8F0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3732" y="1507571"/>
                <a:ext cx="4501943" cy="4866067"/>
              </a:xfrm>
              <a:prstGeom prst="rect">
                <a:avLst/>
              </a:prstGeom>
              <a:blipFill>
                <a:blip r:embed="rId20"/>
                <a:stretch>
                  <a:fillRect l="-1404" t="-1039" r="-2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78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7B516EA-6D48-C640-99D1-A9A734A8AAED}"/>
              </a:ext>
            </a:extLst>
          </p:cNvPr>
          <p:cNvSpPr/>
          <p:nvPr/>
        </p:nvSpPr>
        <p:spPr>
          <a:xfrm>
            <a:off x="2509800" y="1391177"/>
            <a:ext cx="3360813" cy="2510864"/>
          </a:xfrm>
          <a:prstGeom prst="roundRect">
            <a:avLst>
              <a:gd name="adj" fmla="val 964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7E6A60-A039-2845-9302-363675A03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Multi-layer Perceptron: A simple illustration - 1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F2F050-A812-104A-9E82-3255868DA021}"/>
              </a:ext>
            </a:extLst>
          </p:cNvPr>
          <p:cNvSpPr/>
          <p:nvPr/>
        </p:nvSpPr>
        <p:spPr>
          <a:xfrm>
            <a:off x="1599075" y="1391177"/>
            <a:ext cx="742384" cy="25108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B8027C2-5276-2E4A-9E01-82C3D94F82E3}"/>
                  </a:ext>
                </a:extLst>
              </p:cNvPr>
              <p:cNvSpPr/>
              <p:nvPr/>
            </p:nvSpPr>
            <p:spPr>
              <a:xfrm>
                <a:off x="1772482" y="1623053"/>
                <a:ext cx="402336" cy="402336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B8027C2-5276-2E4A-9E01-82C3D94F8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482" y="1623053"/>
                <a:ext cx="402336" cy="402336"/>
              </a:xfrm>
              <a:prstGeom prst="ellipse">
                <a:avLst/>
              </a:prstGeom>
              <a:blipFill>
                <a:blip r:embed="rId3"/>
                <a:stretch>
                  <a:fillRect l="-20588"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F52DE2-FA0F-9B49-9F3B-6B60475F7485}"/>
                  </a:ext>
                </a:extLst>
              </p:cNvPr>
              <p:cNvSpPr/>
              <p:nvPr/>
            </p:nvSpPr>
            <p:spPr>
              <a:xfrm>
                <a:off x="1767416" y="2480128"/>
                <a:ext cx="402336" cy="402336"/>
              </a:xfrm>
              <a:prstGeom prst="ellipse">
                <a:avLst/>
              </a:prstGeom>
              <a:solidFill>
                <a:srgbClr val="9B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F52DE2-FA0F-9B49-9F3B-6B60475F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416" y="2480128"/>
                <a:ext cx="402336" cy="402336"/>
              </a:xfrm>
              <a:prstGeom prst="ellipse">
                <a:avLst/>
              </a:prstGeom>
              <a:blipFill>
                <a:blip r:embed="rId4"/>
                <a:stretch>
                  <a:fillRect l="-17647" b="-857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45FAF3C-FDE9-D646-9C79-F1D8DB54649C}"/>
              </a:ext>
            </a:extLst>
          </p:cNvPr>
          <p:cNvSpPr/>
          <p:nvPr/>
        </p:nvSpPr>
        <p:spPr>
          <a:xfrm>
            <a:off x="1772482" y="3341657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27286-920B-074F-BE5F-4269222EC686}"/>
              </a:ext>
            </a:extLst>
          </p:cNvPr>
          <p:cNvSpPr txBox="1"/>
          <p:nvPr/>
        </p:nvSpPr>
        <p:spPr>
          <a:xfrm>
            <a:off x="1432440" y="990941"/>
            <a:ext cx="1312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Input Layer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A6CA76-2D26-8A41-8A0F-4FB5FA646FA8}"/>
              </a:ext>
            </a:extLst>
          </p:cNvPr>
          <p:cNvSpPr/>
          <p:nvPr/>
        </p:nvSpPr>
        <p:spPr>
          <a:xfrm>
            <a:off x="6092999" y="1391176"/>
            <a:ext cx="742384" cy="25108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DF1493-9105-C341-8D8A-B3A044A8ADD8}"/>
              </a:ext>
            </a:extLst>
          </p:cNvPr>
          <p:cNvSpPr/>
          <p:nvPr/>
        </p:nvSpPr>
        <p:spPr>
          <a:xfrm>
            <a:off x="6263022" y="2480125"/>
            <a:ext cx="467455" cy="467455"/>
          </a:xfrm>
          <a:prstGeom prst="ellipse">
            <a:avLst/>
          </a:prstGeom>
          <a:solidFill>
            <a:schemeClr val="accent4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j-lt"/>
              </a:rPr>
              <a:t>0ut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08938BA-0441-D548-9168-8FA60CD4F6A7}"/>
              </a:ext>
            </a:extLst>
          </p:cNvPr>
          <p:cNvSpPr/>
          <p:nvPr/>
        </p:nvSpPr>
        <p:spPr>
          <a:xfrm>
            <a:off x="4060811" y="3337203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CF810-3F2A-9240-BFC4-074DB674EC99}"/>
              </a:ext>
            </a:extLst>
          </p:cNvPr>
          <p:cNvSpPr txBox="1"/>
          <p:nvPr/>
        </p:nvSpPr>
        <p:spPr>
          <a:xfrm>
            <a:off x="3223323" y="996681"/>
            <a:ext cx="2199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Hidden Layer(s)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0F65E-E6C1-9641-AAE1-5036C5357C29}"/>
              </a:ext>
            </a:extLst>
          </p:cNvPr>
          <p:cNvSpPr txBox="1"/>
          <p:nvPr/>
        </p:nvSpPr>
        <p:spPr>
          <a:xfrm>
            <a:off x="5653340" y="990941"/>
            <a:ext cx="1614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Output Layer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2C7562-9329-694C-AA3C-5891095239D1}"/>
              </a:ext>
            </a:extLst>
          </p:cNvPr>
          <p:cNvCxnSpPr>
            <a:cxnSpLocks/>
            <a:stCxn id="6" idx="6"/>
            <a:endCxn id="58" idx="2"/>
          </p:cNvCxnSpPr>
          <p:nvPr/>
        </p:nvCxnSpPr>
        <p:spPr>
          <a:xfrm>
            <a:off x="2174818" y="1824221"/>
            <a:ext cx="1885993" cy="0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D6022D-289A-2149-93D9-07AD7E9EBCE6}"/>
              </a:ext>
            </a:extLst>
          </p:cNvPr>
          <p:cNvCxnSpPr>
            <a:cxnSpLocks/>
            <a:stCxn id="6" idx="6"/>
            <a:endCxn id="59" idx="1"/>
          </p:cNvCxnSpPr>
          <p:nvPr/>
        </p:nvCxnSpPr>
        <p:spPr>
          <a:xfrm>
            <a:off x="2174818" y="1824221"/>
            <a:ext cx="1944914" cy="714828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A60707-1138-9C47-9D1B-8F5D8E792610}"/>
              </a:ext>
            </a:extLst>
          </p:cNvPr>
          <p:cNvCxnSpPr>
            <a:cxnSpLocks/>
            <a:stCxn id="7" idx="6"/>
            <a:endCxn id="58" idx="2"/>
          </p:cNvCxnSpPr>
          <p:nvPr/>
        </p:nvCxnSpPr>
        <p:spPr>
          <a:xfrm flipV="1">
            <a:off x="2169752" y="1824221"/>
            <a:ext cx="1891059" cy="857075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C253460-3E2F-BE43-8EE8-B4D2B8DC84DE}"/>
              </a:ext>
            </a:extLst>
          </p:cNvPr>
          <p:cNvCxnSpPr>
            <a:cxnSpLocks/>
            <a:stCxn id="7" idx="6"/>
            <a:endCxn id="59" idx="2"/>
          </p:cNvCxnSpPr>
          <p:nvPr/>
        </p:nvCxnSpPr>
        <p:spPr>
          <a:xfrm>
            <a:off x="2169752" y="2681296"/>
            <a:ext cx="1891059" cy="0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A76F4C-71F1-3D4E-85AF-21AA87F6DF46}"/>
              </a:ext>
            </a:extLst>
          </p:cNvPr>
          <p:cNvCxnSpPr>
            <a:cxnSpLocks/>
            <a:stCxn id="8" idx="6"/>
            <a:endCxn id="58" idx="3"/>
          </p:cNvCxnSpPr>
          <p:nvPr/>
        </p:nvCxnSpPr>
        <p:spPr>
          <a:xfrm flipV="1">
            <a:off x="2174818" y="1966468"/>
            <a:ext cx="1944914" cy="1576357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9C7C21-C247-9142-B6C3-95E6DE37054F}"/>
              </a:ext>
            </a:extLst>
          </p:cNvPr>
          <p:cNvCxnSpPr>
            <a:cxnSpLocks/>
            <a:stCxn id="8" idx="6"/>
            <a:endCxn id="59" idx="3"/>
          </p:cNvCxnSpPr>
          <p:nvPr/>
        </p:nvCxnSpPr>
        <p:spPr>
          <a:xfrm flipV="1">
            <a:off x="2174818" y="2823543"/>
            <a:ext cx="1944914" cy="719282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D330349-E562-9642-9B32-EF610F57E3E8}"/>
              </a:ext>
            </a:extLst>
          </p:cNvPr>
          <p:cNvSpPr txBox="1"/>
          <p:nvPr/>
        </p:nvSpPr>
        <p:spPr>
          <a:xfrm>
            <a:off x="207173" y="2362806"/>
            <a:ext cx="1388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Stretch sensor input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8FF2FE-488C-C94D-AFAF-2D926FA1170F}"/>
              </a:ext>
            </a:extLst>
          </p:cNvPr>
          <p:cNvSpPr txBox="1"/>
          <p:nvPr/>
        </p:nvSpPr>
        <p:spPr>
          <a:xfrm>
            <a:off x="42536" y="1539835"/>
            <a:ext cx="1668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Accelerometer input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D219E2-CAF0-EC4D-8A9D-630A5054FDC2}"/>
              </a:ext>
            </a:extLst>
          </p:cNvPr>
          <p:cNvSpPr txBox="1"/>
          <p:nvPr/>
        </p:nvSpPr>
        <p:spPr>
          <a:xfrm>
            <a:off x="715059" y="3403933"/>
            <a:ext cx="880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8937B3-ACAC-5D47-B2B0-59590929A9C6}"/>
                  </a:ext>
                </a:extLst>
              </p:cNvPr>
              <p:cNvSpPr/>
              <p:nvPr/>
            </p:nvSpPr>
            <p:spPr>
              <a:xfrm>
                <a:off x="4060811" y="1623053"/>
                <a:ext cx="402336" cy="40233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8937B3-ACAC-5D47-B2B0-59590929A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811" y="1623053"/>
                <a:ext cx="402336" cy="402336"/>
              </a:xfrm>
              <a:prstGeom prst="ellipse">
                <a:avLst/>
              </a:prstGeom>
              <a:blipFill>
                <a:blip r:embed="rId5"/>
                <a:stretch>
                  <a:fillRect l="-20588"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08FA9D4-9A38-EF41-BD0E-C350C2752189}"/>
                  </a:ext>
                </a:extLst>
              </p:cNvPr>
              <p:cNvSpPr/>
              <p:nvPr/>
            </p:nvSpPr>
            <p:spPr>
              <a:xfrm>
                <a:off x="4060811" y="2480128"/>
                <a:ext cx="402336" cy="40233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08FA9D4-9A38-EF41-BD0E-C350C2752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811" y="2480128"/>
                <a:ext cx="402336" cy="402336"/>
              </a:xfrm>
              <a:prstGeom prst="ellipse">
                <a:avLst/>
              </a:prstGeom>
              <a:blipFill>
                <a:blip r:embed="rId6"/>
                <a:stretch>
                  <a:fillRect l="-20588" b="-571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5600032-30F7-2E43-8E88-595344FCAF62}"/>
                  </a:ext>
                </a:extLst>
              </p:cNvPr>
              <p:cNvSpPr txBox="1"/>
              <p:nvPr/>
            </p:nvSpPr>
            <p:spPr>
              <a:xfrm>
                <a:off x="2721180" y="1530763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5600032-30F7-2E43-8E88-595344FCA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180" y="1530763"/>
                <a:ext cx="443619" cy="276999"/>
              </a:xfrm>
              <a:prstGeom prst="rect">
                <a:avLst/>
              </a:prstGeom>
              <a:blipFill>
                <a:blip r:embed="rId7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B36223-7B3D-F249-82EE-386505E2C14E}"/>
                  </a:ext>
                </a:extLst>
              </p:cNvPr>
              <p:cNvSpPr txBox="1"/>
              <p:nvPr/>
            </p:nvSpPr>
            <p:spPr>
              <a:xfrm>
                <a:off x="2721180" y="1816816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B36223-7B3D-F249-82EE-386505E2C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180" y="1816816"/>
                <a:ext cx="443619" cy="276999"/>
              </a:xfrm>
              <a:prstGeom prst="rect">
                <a:avLst/>
              </a:prstGeom>
              <a:blipFill>
                <a:blip r:embed="rId8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D4EC71E-414F-984A-A795-009D77F7B6F2}"/>
                  </a:ext>
                </a:extLst>
              </p:cNvPr>
              <p:cNvSpPr txBox="1"/>
              <p:nvPr/>
            </p:nvSpPr>
            <p:spPr>
              <a:xfrm>
                <a:off x="5182706" y="1816816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D4EC71E-414F-984A-A795-009D77F7B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706" y="1816816"/>
                <a:ext cx="443619" cy="276999"/>
              </a:xfrm>
              <a:prstGeom prst="rect">
                <a:avLst/>
              </a:prstGeom>
              <a:blipFill>
                <a:blip r:embed="rId9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B41034F-222F-5248-8396-4D7EE68AF9B6}"/>
                  </a:ext>
                </a:extLst>
              </p:cNvPr>
              <p:cNvSpPr txBox="1"/>
              <p:nvPr/>
            </p:nvSpPr>
            <p:spPr>
              <a:xfrm>
                <a:off x="2721179" y="2345375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B41034F-222F-5248-8396-4D7EE68AF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179" y="2345375"/>
                <a:ext cx="443619" cy="276999"/>
              </a:xfrm>
              <a:prstGeom prst="rect">
                <a:avLst/>
              </a:prstGeom>
              <a:blipFill>
                <a:blip r:embed="rId10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E3B7376-8839-1445-8438-550BDE237A6B}"/>
                  </a:ext>
                </a:extLst>
              </p:cNvPr>
              <p:cNvSpPr txBox="1"/>
              <p:nvPr/>
            </p:nvSpPr>
            <p:spPr>
              <a:xfrm>
                <a:off x="3081733" y="3124707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E3B7376-8839-1445-8438-550BDE237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733" y="3124707"/>
                <a:ext cx="443619" cy="276999"/>
              </a:xfrm>
              <a:prstGeom prst="rect">
                <a:avLst/>
              </a:prstGeom>
              <a:blipFill>
                <a:blip r:embed="rId11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FD7A033-8D02-0F43-9E5B-0E57778E2C7E}"/>
                  </a:ext>
                </a:extLst>
              </p:cNvPr>
              <p:cNvSpPr txBox="1"/>
              <p:nvPr/>
            </p:nvSpPr>
            <p:spPr>
              <a:xfrm>
                <a:off x="3070966" y="2730729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FD7A033-8D02-0F43-9E5B-0E57778E2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966" y="2730729"/>
                <a:ext cx="443619" cy="276999"/>
              </a:xfrm>
              <a:prstGeom prst="rect">
                <a:avLst/>
              </a:prstGeom>
              <a:blipFill>
                <a:blip r:embed="rId12"/>
                <a:stretch>
                  <a:fillRect l="-277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8E734A4-4F68-354D-BABA-690F0C742594}"/>
                  </a:ext>
                </a:extLst>
              </p:cNvPr>
              <p:cNvSpPr txBox="1"/>
              <p:nvPr/>
            </p:nvSpPr>
            <p:spPr>
              <a:xfrm>
                <a:off x="2516919" y="2622374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8E734A4-4F68-354D-BABA-690F0C742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919" y="2622374"/>
                <a:ext cx="443619" cy="276999"/>
              </a:xfrm>
              <a:prstGeom prst="rect">
                <a:avLst/>
              </a:prstGeom>
              <a:blipFill>
                <a:blip r:embed="rId13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F5F57D8-A85D-4845-8327-1576101A62C5}"/>
              </a:ext>
            </a:extLst>
          </p:cNvPr>
          <p:cNvCxnSpPr>
            <a:cxnSpLocks/>
            <a:stCxn id="58" idx="6"/>
            <a:endCxn id="14" idx="1"/>
          </p:cNvCxnSpPr>
          <p:nvPr/>
        </p:nvCxnSpPr>
        <p:spPr>
          <a:xfrm>
            <a:off x="4463147" y="1824221"/>
            <a:ext cx="1868332" cy="724361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AFB8EB0-B539-0A4F-B3BD-F5E36EC04BC2}"/>
              </a:ext>
            </a:extLst>
          </p:cNvPr>
          <p:cNvCxnSpPr>
            <a:cxnSpLocks/>
            <a:stCxn id="59" idx="6"/>
            <a:endCxn id="14" idx="2"/>
          </p:cNvCxnSpPr>
          <p:nvPr/>
        </p:nvCxnSpPr>
        <p:spPr>
          <a:xfrm>
            <a:off x="4463147" y="2681296"/>
            <a:ext cx="1799875" cy="3255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7560522-4A75-D344-839F-66643D82CCA8}"/>
              </a:ext>
            </a:extLst>
          </p:cNvPr>
          <p:cNvCxnSpPr>
            <a:cxnSpLocks/>
            <a:stCxn id="19" idx="6"/>
            <a:endCxn id="14" idx="3"/>
          </p:cNvCxnSpPr>
          <p:nvPr/>
        </p:nvCxnSpPr>
        <p:spPr>
          <a:xfrm flipV="1">
            <a:off x="4463147" y="2879123"/>
            <a:ext cx="1868332" cy="659248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257D1AB-40ED-1E4C-84F3-7063CE849DD1}"/>
                  </a:ext>
                </a:extLst>
              </p:cNvPr>
              <p:cNvSpPr txBox="1"/>
              <p:nvPr/>
            </p:nvSpPr>
            <p:spPr>
              <a:xfrm>
                <a:off x="5182706" y="2375959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257D1AB-40ED-1E4C-84F3-7063CE849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706" y="2375959"/>
                <a:ext cx="443619" cy="276999"/>
              </a:xfrm>
              <a:prstGeom prst="rect">
                <a:avLst/>
              </a:prstGeom>
              <a:blipFill>
                <a:blip r:embed="rId1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6A94AD-3CA2-134D-B548-14AF2242CEBD}"/>
                  </a:ext>
                </a:extLst>
              </p:cNvPr>
              <p:cNvSpPr txBox="1"/>
              <p:nvPr/>
            </p:nvSpPr>
            <p:spPr>
              <a:xfrm>
                <a:off x="5182706" y="2887334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6A94AD-3CA2-134D-B548-14AF2242C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706" y="2887334"/>
                <a:ext cx="443619" cy="276999"/>
              </a:xfrm>
              <a:prstGeom prst="rect">
                <a:avLst/>
              </a:prstGeom>
              <a:blipFill>
                <a:blip r:embed="rId15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5" name="Table 95">
                <a:extLst>
                  <a:ext uri="{FF2B5EF4-FFF2-40B4-BE49-F238E27FC236}">
                    <a16:creationId xmlns:a16="http://schemas.microsoft.com/office/drawing/2014/main" id="{40A2E123-65AC-024C-9086-64D525FB31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6662572"/>
                  </p:ext>
                </p:extLst>
              </p:nvPr>
            </p:nvGraphicFramePr>
            <p:xfrm>
              <a:off x="1034325" y="4592239"/>
              <a:ext cx="628835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0565">
                      <a:extLst>
                        <a:ext uri="{9D8B030D-6E8A-4147-A177-3AD203B41FA5}">
                          <a16:colId xmlns:a16="http://schemas.microsoft.com/office/drawing/2014/main" val="2613702310"/>
                        </a:ext>
                      </a:extLst>
                    </a:gridCol>
                    <a:gridCol w="3018396">
                      <a:extLst>
                        <a:ext uri="{9D8B030D-6E8A-4147-A177-3AD203B41FA5}">
                          <a16:colId xmlns:a16="http://schemas.microsoft.com/office/drawing/2014/main" val="3104538149"/>
                        </a:ext>
                      </a:extLst>
                    </a:gridCol>
                    <a:gridCol w="2699389">
                      <a:extLst>
                        <a:ext uri="{9D8B030D-6E8A-4147-A177-3AD203B41FA5}">
                          <a16:colId xmlns:a16="http://schemas.microsoft.com/office/drawing/2014/main" val="2437461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2 (Neuron output)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68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25816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2622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𝑢𝑡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185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5" name="Table 95">
                <a:extLst>
                  <a:ext uri="{FF2B5EF4-FFF2-40B4-BE49-F238E27FC236}">
                    <a16:creationId xmlns:a16="http://schemas.microsoft.com/office/drawing/2014/main" id="{40A2E123-65AC-024C-9086-64D525FB31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6662572"/>
                  </p:ext>
                </p:extLst>
              </p:nvPr>
            </p:nvGraphicFramePr>
            <p:xfrm>
              <a:off x="1034325" y="4592239"/>
              <a:ext cx="628835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0565">
                      <a:extLst>
                        <a:ext uri="{9D8B030D-6E8A-4147-A177-3AD203B41FA5}">
                          <a16:colId xmlns:a16="http://schemas.microsoft.com/office/drawing/2014/main" val="2613702310"/>
                        </a:ext>
                      </a:extLst>
                    </a:gridCol>
                    <a:gridCol w="3018396">
                      <a:extLst>
                        <a:ext uri="{9D8B030D-6E8A-4147-A177-3AD203B41FA5}">
                          <a16:colId xmlns:a16="http://schemas.microsoft.com/office/drawing/2014/main" val="3104538149"/>
                        </a:ext>
                      </a:extLst>
                    </a:gridCol>
                    <a:gridCol w="2699389">
                      <a:extLst>
                        <a:ext uri="{9D8B030D-6E8A-4147-A177-3AD203B41FA5}">
                          <a16:colId xmlns:a16="http://schemas.microsoft.com/office/drawing/2014/main" val="2437461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2 (Neuron output)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68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64" t="-108197" r="-1003191" b="-2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153" t="-108197" r="-90121" b="-2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409" t="-108197" r="-903" b="-2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25816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64" t="-208197" r="-1003191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153" t="-208197" r="-90121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409" t="-208197" r="-903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2622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64" t="-308197" r="-100319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153" t="-308197" r="-9012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409" t="-308197" r="-903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185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E7B625-EAFA-554D-8435-7EE99C662048}"/>
                  </a:ext>
                </a:extLst>
              </p:cNvPr>
              <p:cNvSpPr txBox="1"/>
              <p:nvPr/>
            </p:nvSpPr>
            <p:spPr>
              <a:xfrm>
                <a:off x="4379307" y="1523480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E7B625-EAFA-554D-8435-7EE99C662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07" y="1523480"/>
                <a:ext cx="443619" cy="276999"/>
              </a:xfrm>
              <a:prstGeom prst="rect">
                <a:avLst/>
              </a:prstGeom>
              <a:blipFill>
                <a:blip r:embed="rId1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F48FB27-5491-8D42-8668-778E917A6F32}"/>
                  </a:ext>
                </a:extLst>
              </p:cNvPr>
              <p:cNvSpPr txBox="1"/>
              <p:nvPr/>
            </p:nvSpPr>
            <p:spPr>
              <a:xfrm>
                <a:off x="4405357" y="2356813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F48FB27-5491-8D42-8668-778E917A6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357" y="2356813"/>
                <a:ext cx="443619" cy="276999"/>
              </a:xfrm>
              <a:prstGeom prst="rect">
                <a:avLst/>
              </a:prstGeom>
              <a:blipFill>
                <a:blip r:embed="rId1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1B0CB54-52FF-904F-AC96-E9C2013DBF08}"/>
                  </a:ext>
                </a:extLst>
              </p:cNvPr>
              <p:cNvSpPr txBox="1"/>
              <p:nvPr/>
            </p:nvSpPr>
            <p:spPr>
              <a:xfrm>
                <a:off x="6899692" y="2760865"/>
                <a:ext cx="83185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(sit/run)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1B0CB54-52FF-904F-AC96-E9C2013DB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692" y="2760865"/>
                <a:ext cx="831855" cy="553998"/>
              </a:xfrm>
              <a:prstGeom prst="rect">
                <a:avLst/>
              </a:prstGeom>
              <a:blipFill>
                <a:blip r:embed="rId19"/>
                <a:stretch>
                  <a:fillRect l="-18182" r="-1363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D88F264-231E-F14D-B8EE-6B39CD922BD4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6730477" y="2713853"/>
            <a:ext cx="537763" cy="0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3D404D4-7B45-8B4B-AE59-0874628733F3}"/>
              </a:ext>
            </a:extLst>
          </p:cNvPr>
          <p:cNvSpPr/>
          <p:nvPr/>
        </p:nvSpPr>
        <p:spPr>
          <a:xfrm>
            <a:off x="1034325" y="4226051"/>
            <a:ext cx="6288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Computations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6323229-2D24-9C4C-A20F-D9A04A0B7B82}"/>
              </a:ext>
            </a:extLst>
          </p:cNvPr>
          <p:cNvSpPr txBox="1"/>
          <p:nvPr/>
        </p:nvSpPr>
        <p:spPr>
          <a:xfrm>
            <a:off x="1580887" y="6112049"/>
            <a:ext cx="2942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Inner product of the input and weights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0E2DF77-4ED6-5E44-9C9F-F21CA3167CA2}"/>
              </a:ext>
            </a:extLst>
          </p:cNvPr>
          <p:cNvSpPr txBox="1"/>
          <p:nvPr/>
        </p:nvSpPr>
        <p:spPr>
          <a:xfrm>
            <a:off x="4547922" y="6112049"/>
            <a:ext cx="2774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Activation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ontent Placeholder 1">
                <a:extLst>
                  <a:ext uri="{FF2B5EF4-FFF2-40B4-BE49-F238E27FC236}">
                    <a16:creationId xmlns:a16="http://schemas.microsoft.com/office/drawing/2014/main" id="{B9EA7334-B0EF-E94A-B265-5B8594888E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3383" y="1457609"/>
                <a:ext cx="4199415" cy="36661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301752" indent="-301752" algn="l" defTabSz="914400" rtl="0" eaLnBrk="1" latinLnBrk="0" hangingPunct="1">
                  <a:spcBef>
                    <a:spcPts val="1100"/>
                  </a:spcBef>
                  <a:buClrTx/>
                  <a:buSzPct val="111000"/>
                  <a:buFont typeface="Wingdings" panose="05000000000000000000" pitchFamily="2" charset="2"/>
                  <a:buChar char="§"/>
                  <a:defRPr sz="2400" b="1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1pPr>
                <a:lvl2pPr marL="573088" indent="-231775" algn="l" defTabSz="914400" rtl="0" eaLnBrk="1" latinLnBrk="0" hangingPunct="1">
                  <a:spcBef>
                    <a:spcPts val="300"/>
                  </a:spcBef>
                  <a:buFont typeface="Arial" panose="020B0604020202020204" pitchFamily="34" charset="0"/>
                  <a:buChar char="–"/>
                  <a:defRPr sz="2200" b="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2pPr>
                <a:lvl3pPr marL="739775" indent="-166688" algn="l" defTabSz="914400" rtl="0" eaLnBrk="1" latinLnBrk="0" hangingPunct="1">
                  <a:spcBef>
                    <a:spcPts val="33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3pPr>
                <a:lvl4pPr marL="1089025" indent="-290513" algn="l" defTabSz="914400" rtl="0" eaLnBrk="1" latinLnBrk="0" hangingPunct="1"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4pPr>
                <a:lvl5pPr marL="1371600" indent="-225425" algn="l" defTabSz="914400" rtl="0" eaLnBrk="1" latinLnBrk="0" hangingPunct="1">
                  <a:spcBef>
                    <a:spcPts val="5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sz="1800" dirty="0"/>
                  <a:t>Case 1 Inputs</a:t>
                </a:r>
              </a:p>
              <a:p>
                <a:pPr marL="558674" lvl="1" indent="-287338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1800" dirty="0"/>
                  <a:t>(no motion)</a:t>
                </a:r>
              </a:p>
              <a:p>
                <a:pPr marL="558674" lvl="1" indent="-287338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(sensor is stretched)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800" dirty="0"/>
                  <a:t>Hidden layer</a:t>
                </a:r>
                <a:endParaRPr lang="en-US" sz="2000" dirty="0"/>
              </a:p>
              <a:p>
                <a:pPr marL="558674" lvl="1" indent="-287338">
                  <a:spcBef>
                    <a:spcPts val="1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1800" b="1" dirty="0"/>
              </a:p>
              <a:p>
                <a:pPr marL="558674" lvl="1" indent="-287338">
                  <a:spcBef>
                    <a:spcPts val="1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dirty="0"/>
                  <a:t>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1800" b="1" dirty="0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800" dirty="0"/>
                  <a:t>Output</a:t>
                </a:r>
                <a:endParaRPr lang="en-US" sz="2000" dirty="0"/>
              </a:p>
              <a:p>
                <a:pPr marL="558674" lvl="1" indent="-287338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dirty="0"/>
              </a:p>
              <a:p>
                <a:pPr marL="271336" lvl="1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271336" lvl="1" indent="0">
                  <a:spcBef>
                    <a:spcPts val="1500"/>
                  </a:spcBef>
                  <a:buNone/>
                </a:pPr>
                <a:r>
                  <a:rPr lang="en-US" sz="1800" b="1" i="1" dirty="0">
                    <a:solidFill>
                      <a:schemeClr val="accent1">
                        <a:lumMod val="50000"/>
                      </a:schemeClr>
                    </a:solidFill>
                  </a:rPr>
                  <a:t>That is,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  <m:r>
                      <a:rPr lang="en-US" sz="18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8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800" b="1" i="1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br>
                  <a:rPr lang="en-US" sz="1800" b="1" i="1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1800" b="1" i="1" dirty="0">
                    <a:solidFill>
                      <a:schemeClr val="accent1">
                        <a:lumMod val="50000"/>
                      </a:schemeClr>
                    </a:solidFill>
                  </a:rPr>
                  <a:t>implies “SIT”</a:t>
                </a:r>
              </a:p>
              <a:p>
                <a:pPr marL="271336" lvl="1" indent="0"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111" name="Content Placeholder 1">
                <a:extLst>
                  <a:ext uri="{FF2B5EF4-FFF2-40B4-BE49-F238E27FC236}">
                    <a16:creationId xmlns:a16="http://schemas.microsoft.com/office/drawing/2014/main" id="{B9EA7334-B0EF-E94A-B265-5B8594888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383" y="1457609"/>
                <a:ext cx="4199415" cy="3666184"/>
              </a:xfrm>
              <a:prstGeom prst="rect">
                <a:avLst/>
              </a:prstGeom>
              <a:blipFill>
                <a:blip r:embed="rId20"/>
                <a:stretch>
                  <a:fillRect l="-1208" t="-690"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ectangle 111">
            <a:extLst>
              <a:ext uri="{FF2B5EF4-FFF2-40B4-BE49-F238E27FC236}">
                <a16:creationId xmlns:a16="http://schemas.microsoft.com/office/drawing/2014/main" id="{0E621C14-B795-3740-A5F6-F4857E6ADC44}"/>
              </a:ext>
            </a:extLst>
          </p:cNvPr>
          <p:cNvSpPr/>
          <p:nvPr/>
        </p:nvSpPr>
        <p:spPr>
          <a:xfrm>
            <a:off x="7853383" y="1048401"/>
            <a:ext cx="41801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9B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Input/Output</a:t>
            </a:r>
          </a:p>
        </p:txBody>
      </p:sp>
    </p:spTree>
    <p:extLst>
      <p:ext uri="{BB962C8B-B14F-4D97-AF65-F5344CB8AC3E}">
        <p14:creationId xmlns:p14="http://schemas.microsoft.com/office/powerpoint/2010/main" val="415313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7B516EA-6D48-C640-99D1-A9A734A8AAED}"/>
              </a:ext>
            </a:extLst>
          </p:cNvPr>
          <p:cNvSpPr/>
          <p:nvPr/>
        </p:nvSpPr>
        <p:spPr>
          <a:xfrm>
            <a:off x="2509800" y="1391177"/>
            <a:ext cx="3360813" cy="2510864"/>
          </a:xfrm>
          <a:prstGeom prst="roundRect">
            <a:avLst>
              <a:gd name="adj" fmla="val 964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7E6A60-A039-2845-9302-363675A03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Multi-layer Perceptron: A simple illustration - 2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F2F050-A812-104A-9E82-3255868DA021}"/>
              </a:ext>
            </a:extLst>
          </p:cNvPr>
          <p:cNvSpPr/>
          <p:nvPr/>
        </p:nvSpPr>
        <p:spPr>
          <a:xfrm>
            <a:off x="1599075" y="1391177"/>
            <a:ext cx="742384" cy="25108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B8027C2-5276-2E4A-9E01-82C3D94F82E3}"/>
                  </a:ext>
                </a:extLst>
              </p:cNvPr>
              <p:cNvSpPr/>
              <p:nvPr/>
            </p:nvSpPr>
            <p:spPr>
              <a:xfrm>
                <a:off x="1772482" y="1623053"/>
                <a:ext cx="402336" cy="402336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B8027C2-5276-2E4A-9E01-82C3D94F8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482" y="1623053"/>
                <a:ext cx="402336" cy="402336"/>
              </a:xfrm>
              <a:prstGeom prst="ellipse">
                <a:avLst/>
              </a:prstGeom>
              <a:blipFill>
                <a:blip r:embed="rId3"/>
                <a:stretch>
                  <a:fillRect l="-20588"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F52DE2-FA0F-9B49-9F3B-6B60475F7485}"/>
                  </a:ext>
                </a:extLst>
              </p:cNvPr>
              <p:cNvSpPr/>
              <p:nvPr/>
            </p:nvSpPr>
            <p:spPr>
              <a:xfrm>
                <a:off x="1767416" y="2480128"/>
                <a:ext cx="402336" cy="402336"/>
              </a:xfrm>
              <a:prstGeom prst="ellipse">
                <a:avLst/>
              </a:prstGeom>
              <a:solidFill>
                <a:srgbClr val="9B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F52DE2-FA0F-9B49-9F3B-6B60475F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416" y="2480128"/>
                <a:ext cx="402336" cy="402336"/>
              </a:xfrm>
              <a:prstGeom prst="ellipse">
                <a:avLst/>
              </a:prstGeom>
              <a:blipFill>
                <a:blip r:embed="rId4"/>
                <a:stretch>
                  <a:fillRect l="-17647" b="-857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45FAF3C-FDE9-D646-9C79-F1D8DB54649C}"/>
              </a:ext>
            </a:extLst>
          </p:cNvPr>
          <p:cNvSpPr/>
          <p:nvPr/>
        </p:nvSpPr>
        <p:spPr>
          <a:xfrm>
            <a:off x="1772482" y="3341657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27286-920B-074F-BE5F-4269222EC686}"/>
              </a:ext>
            </a:extLst>
          </p:cNvPr>
          <p:cNvSpPr txBox="1"/>
          <p:nvPr/>
        </p:nvSpPr>
        <p:spPr>
          <a:xfrm>
            <a:off x="1432440" y="990941"/>
            <a:ext cx="1312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Input Layer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A6CA76-2D26-8A41-8A0F-4FB5FA646FA8}"/>
              </a:ext>
            </a:extLst>
          </p:cNvPr>
          <p:cNvSpPr/>
          <p:nvPr/>
        </p:nvSpPr>
        <p:spPr>
          <a:xfrm>
            <a:off x="6092999" y="1391176"/>
            <a:ext cx="742384" cy="25108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DF1493-9105-C341-8D8A-B3A044A8ADD8}"/>
              </a:ext>
            </a:extLst>
          </p:cNvPr>
          <p:cNvSpPr/>
          <p:nvPr/>
        </p:nvSpPr>
        <p:spPr>
          <a:xfrm>
            <a:off x="6263022" y="2480125"/>
            <a:ext cx="467455" cy="467455"/>
          </a:xfrm>
          <a:prstGeom prst="ellipse">
            <a:avLst/>
          </a:prstGeom>
          <a:solidFill>
            <a:schemeClr val="accent4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j-lt"/>
              </a:rPr>
              <a:t>0ut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08938BA-0441-D548-9168-8FA60CD4F6A7}"/>
              </a:ext>
            </a:extLst>
          </p:cNvPr>
          <p:cNvSpPr/>
          <p:nvPr/>
        </p:nvSpPr>
        <p:spPr>
          <a:xfrm>
            <a:off x="4060811" y="3337203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CF810-3F2A-9240-BFC4-074DB674EC99}"/>
              </a:ext>
            </a:extLst>
          </p:cNvPr>
          <p:cNvSpPr txBox="1"/>
          <p:nvPr/>
        </p:nvSpPr>
        <p:spPr>
          <a:xfrm>
            <a:off x="3223323" y="996681"/>
            <a:ext cx="2199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Hidden Layer(s)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0F65E-E6C1-9641-AAE1-5036C5357C29}"/>
              </a:ext>
            </a:extLst>
          </p:cNvPr>
          <p:cNvSpPr txBox="1"/>
          <p:nvPr/>
        </p:nvSpPr>
        <p:spPr>
          <a:xfrm>
            <a:off x="5653340" y="990941"/>
            <a:ext cx="1614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Output Layer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2C7562-9329-694C-AA3C-5891095239D1}"/>
              </a:ext>
            </a:extLst>
          </p:cNvPr>
          <p:cNvCxnSpPr>
            <a:cxnSpLocks/>
            <a:stCxn id="6" idx="6"/>
            <a:endCxn id="58" idx="2"/>
          </p:cNvCxnSpPr>
          <p:nvPr/>
        </p:nvCxnSpPr>
        <p:spPr>
          <a:xfrm>
            <a:off x="2174818" y="1824221"/>
            <a:ext cx="1885993" cy="0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D6022D-289A-2149-93D9-07AD7E9EBCE6}"/>
              </a:ext>
            </a:extLst>
          </p:cNvPr>
          <p:cNvCxnSpPr>
            <a:cxnSpLocks/>
            <a:stCxn id="6" idx="6"/>
            <a:endCxn id="59" idx="1"/>
          </p:cNvCxnSpPr>
          <p:nvPr/>
        </p:nvCxnSpPr>
        <p:spPr>
          <a:xfrm>
            <a:off x="2174818" y="1824221"/>
            <a:ext cx="1944914" cy="714828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A60707-1138-9C47-9D1B-8F5D8E792610}"/>
              </a:ext>
            </a:extLst>
          </p:cNvPr>
          <p:cNvCxnSpPr>
            <a:cxnSpLocks/>
            <a:stCxn id="7" idx="6"/>
            <a:endCxn id="58" idx="2"/>
          </p:cNvCxnSpPr>
          <p:nvPr/>
        </p:nvCxnSpPr>
        <p:spPr>
          <a:xfrm flipV="1">
            <a:off x="2169752" y="1824221"/>
            <a:ext cx="1891059" cy="857075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C253460-3E2F-BE43-8EE8-B4D2B8DC84DE}"/>
              </a:ext>
            </a:extLst>
          </p:cNvPr>
          <p:cNvCxnSpPr>
            <a:cxnSpLocks/>
            <a:stCxn id="7" idx="6"/>
            <a:endCxn id="59" idx="2"/>
          </p:cNvCxnSpPr>
          <p:nvPr/>
        </p:nvCxnSpPr>
        <p:spPr>
          <a:xfrm>
            <a:off x="2169752" y="2681296"/>
            <a:ext cx="1891059" cy="0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A76F4C-71F1-3D4E-85AF-21AA87F6DF46}"/>
              </a:ext>
            </a:extLst>
          </p:cNvPr>
          <p:cNvCxnSpPr>
            <a:cxnSpLocks/>
            <a:stCxn id="8" idx="6"/>
            <a:endCxn id="58" idx="3"/>
          </p:cNvCxnSpPr>
          <p:nvPr/>
        </p:nvCxnSpPr>
        <p:spPr>
          <a:xfrm flipV="1">
            <a:off x="2174818" y="1966468"/>
            <a:ext cx="1944914" cy="1576357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9C7C21-C247-9142-B6C3-95E6DE37054F}"/>
              </a:ext>
            </a:extLst>
          </p:cNvPr>
          <p:cNvCxnSpPr>
            <a:cxnSpLocks/>
            <a:stCxn id="8" idx="6"/>
            <a:endCxn id="59" idx="3"/>
          </p:cNvCxnSpPr>
          <p:nvPr/>
        </p:nvCxnSpPr>
        <p:spPr>
          <a:xfrm flipV="1">
            <a:off x="2174818" y="2823543"/>
            <a:ext cx="1944914" cy="719282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D330349-E562-9642-9B32-EF610F57E3E8}"/>
              </a:ext>
            </a:extLst>
          </p:cNvPr>
          <p:cNvSpPr txBox="1"/>
          <p:nvPr/>
        </p:nvSpPr>
        <p:spPr>
          <a:xfrm>
            <a:off x="207173" y="2362806"/>
            <a:ext cx="1388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Stretch sensor input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8FF2FE-488C-C94D-AFAF-2D926FA1170F}"/>
              </a:ext>
            </a:extLst>
          </p:cNvPr>
          <p:cNvSpPr txBox="1"/>
          <p:nvPr/>
        </p:nvSpPr>
        <p:spPr>
          <a:xfrm>
            <a:off x="42536" y="1539835"/>
            <a:ext cx="1668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Accelerometer input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D219E2-CAF0-EC4D-8A9D-630A5054FDC2}"/>
              </a:ext>
            </a:extLst>
          </p:cNvPr>
          <p:cNvSpPr txBox="1"/>
          <p:nvPr/>
        </p:nvSpPr>
        <p:spPr>
          <a:xfrm>
            <a:off x="715059" y="3403933"/>
            <a:ext cx="880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T Sans" panose="020B0503020203020204" pitchFamily="34" charset="0"/>
              </a:rPr>
              <a:t>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8937B3-ACAC-5D47-B2B0-59590929A9C6}"/>
                  </a:ext>
                </a:extLst>
              </p:cNvPr>
              <p:cNvSpPr/>
              <p:nvPr/>
            </p:nvSpPr>
            <p:spPr>
              <a:xfrm>
                <a:off x="4060811" y="1623053"/>
                <a:ext cx="402336" cy="40233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8937B3-ACAC-5D47-B2B0-59590929A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811" y="1623053"/>
                <a:ext cx="402336" cy="402336"/>
              </a:xfrm>
              <a:prstGeom prst="ellipse">
                <a:avLst/>
              </a:prstGeom>
              <a:blipFill>
                <a:blip r:embed="rId5"/>
                <a:stretch>
                  <a:fillRect l="-20588"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08FA9D4-9A38-EF41-BD0E-C350C2752189}"/>
                  </a:ext>
                </a:extLst>
              </p:cNvPr>
              <p:cNvSpPr/>
              <p:nvPr/>
            </p:nvSpPr>
            <p:spPr>
              <a:xfrm>
                <a:off x="4060811" y="2480128"/>
                <a:ext cx="402336" cy="40233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08FA9D4-9A38-EF41-BD0E-C350C2752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811" y="2480128"/>
                <a:ext cx="402336" cy="402336"/>
              </a:xfrm>
              <a:prstGeom prst="ellipse">
                <a:avLst/>
              </a:prstGeom>
              <a:blipFill>
                <a:blip r:embed="rId6"/>
                <a:stretch>
                  <a:fillRect l="-20588" b="-571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5600032-30F7-2E43-8E88-595344FCAF62}"/>
                  </a:ext>
                </a:extLst>
              </p:cNvPr>
              <p:cNvSpPr txBox="1"/>
              <p:nvPr/>
            </p:nvSpPr>
            <p:spPr>
              <a:xfrm>
                <a:off x="2721180" y="1530763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5600032-30F7-2E43-8E88-595344FCA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180" y="1530763"/>
                <a:ext cx="443619" cy="276999"/>
              </a:xfrm>
              <a:prstGeom prst="rect">
                <a:avLst/>
              </a:prstGeom>
              <a:blipFill>
                <a:blip r:embed="rId7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B36223-7B3D-F249-82EE-386505E2C14E}"/>
                  </a:ext>
                </a:extLst>
              </p:cNvPr>
              <p:cNvSpPr txBox="1"/>
              <p:nvPr/>
            </p:nvSpPr>
            <p:spPr>
              <a:xfrm>
                <a:off x="2721180" y="1816816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B36223-7B3D-F249-82EE-386505E2C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180" y="1816816"/>
                <a:ext cx="443619" cy="276999"/>
              </a:xfrm>
              <a:prstGeom prst="rect">
                <a:avLst/>
              </a:prstGeom>
              <a:blipFill>
                <a:blip r:embed="rId8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D4EC71E-414F-984A-A795-009D77F7B6F2}"/>
                  </a:ext>
                </a:extLst>
              </p:cNvPr>
              <p:cNvSpPr txBox="1"/>
              <p:nvPr/>
            </p:nvSpPr>
            <p:spPr>
              <a:xfrm>
                <a:off x="5182706" y="1816816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D4EC71E-414F-984A-A795-009D77F7B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706" y="1816816"/>
                <a:ext cx="443619" cy="276999"/>
              </a:xfrm>
              <a:prstGeom prst="rect">
                <a:avLst/>
              </a:prstGeom>
              <a:blipFill>
                <a:blip r:embed="rId9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B41034F-222F-5248-8396-4D7EE68AF9B6}"/>
                  </a:ext>
                </a:extLst>
              </p:cNvPr>
              <p:cNvSpPr txBox="1"/>
              <p:nvPr/>
            </p:nvSpPr>
            <p:spPr>
              <a:xfrm>
                <a:off x="2721179" y="2345375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B41034F-222F-5248-8396-4D7EE68AF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179" y="2345375"/>
                <a:ext cx="443619" cy="276999"/>
              </a:xfrm>
              <a:prstGeom prst="rect">
                <a:avLst/>
              </a:prstGeom>
              <a:blipFill>
                <a:blip r:embed="rId10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E3B7376-8839-1445-8438-550BDE237A6B}"/>
                  </a:ext>
                </a:extLst>
              </p:cNvPr>
              <p:cNvSpPr txBox="1"/>
              <p:nvPr/>
            </p:nvSpPr>
            <p:spPr>
              <a:xfrm>
                <a:off x="3081733" y="3124707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E3B7376-8839-1445-8438-550BDE237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733" y="3124707"/>
                <a:ext cx="443619" cy="276999"/>
              </a:xfrm>
              <a:prstGeom prst="rect">
                <a:avLst/>
              </a:prstGeom>
              <a:blipFill>
                <a:blip r:embed="rId11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FD7A033-8D02-0F43-9E5B-0E57778E2C7E}"/>
                  </a:ext>
                </a:extLst>
              </p:cNvPr>
              <p:cNvSpPr txBox="1"/>
              <p:nvPr/>
            </p:nvSpPr>
            <p:spPr>
              <a:xfrm>
                <a:off x="3070966" y="2730729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FD7A033-8D02-0F43-9E5B-0E57778E2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966" y="2730729"/>
                <a:ext cx="443619" cy="276999"/>
              </a:xfrm>
              <a:prstGeom prst="rect">
                <a:avLst/>
              </a:prstGeom>
              <a:blipFill>
                <a:blip r:embed="rId12"/>
                <a:stretch>
                  <a:fillRect l="-277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8E734A4-4F68-354D-BABA-690F0C742594}"/>
                  </a:ext>
                </a:extLst>
              </p:cNvPr>
              <p:cNvSpPr txBox="1"/>
              <p:nvPr/>
            </p:nvSpPr>
            <p:spPr>
              <a:xfrm>
                <a:off x="2516919" y="2622374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8E734A4-4F68-354D-BABA-690F0C742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919" y="2622374"/>
                <a:ext cx="443619" cy="276999"/>
              </a:xfrm>
              <a:prstGeom prst="rect">
                <a:avLst/>
              </a:prstGeom>
              <a:blipFill>
                <a:blip r:embed="rId13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F5F57D8-A85D-4845-8327-1576101A62C5}"/>
              </a:ext>
            </a:extLst>
          </p:cNvPr>
          <p:cNvCxnSpPr>
            <a:cxnSpLocks/>
            <a:stCxn id="58" idx="6"/>
            <a:endCxn id="14" idx="1"/>
          </p:cNvCxnSpPr>
          <p:nvPr/>
        </p:nvCxnSpPr>
        <p:spPr>
          <a:xfrm>
            <a:off x="4463147" y="1824221"/>
            <a:ext cx="1868332" cy="724361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AFB8EB0-B539-0A4F-B3BD-F5E36EC04BC2}"/>
              </a:ext>
            </a:extLst>
          </p:cNvPr>
          <p:cNvCxnSpPr>
            <a:cxnSpLocks/>
            <a:stCxn id="59" idx="6"/>
            <a:endCxn id="14" idx="2"/>
          </p:cNvCxnSpPr>
          <p:nvPr/>
        </p:nvCxnSpPr>
        <p:spPr>
          <a:xfrm>
            <a:off x="4463147" y="2681296"/>
            <a:ext cx="1799875" cy="3255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7560522-4A75-D344-839F-66643D82CCA8}"/>
              </a:ext>
            </a:extLst>
          </p:cNvPr>
          <p:cNvCxnSpPr>
            <a:cxnSpLocks/>
            <a:stCxn id="19" idx="6"/>
            <a:endCxn id="14" idx="3"/>
          </p:cNvCxnSpPr>
          <p:nvPr/>
        </p:nvCxnSpPr>
        <p:spPr>
          <a:xfrm flipV="1">
            <a:off x="4463147" y="2879123"/>
            <a:ext cx="1868332" cy="659248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257D1AB-40ED-1E4C-84F3-7063CE849DD1}"/>
                  </a:ext>
                </a:extLst>
              </p:cNvPr>
              <p:cNvSpPr txBox="1"/>
              <p:nvPr/>
            </p:nvSpPr>
            <p:spPr>
              <a:xfrm>
                <a:off x="5182706" y="2375959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257D1AB-40ED-1E4C-84F3-7063CE849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706" y="2375959"/>
                <a:ext cx="443619" cy="276999"/>
              </a:xfrm>
              <a:prstGeom prst="rect">
                <a:avLst/>
              </a:prstGeom>
              <a:blipFill>
                <a:blip r:embed="rId1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6A94AD-3CA2-134D-B548-14AF2242CEBD}"/>
                  </a:ext>
                </a:extLst>
              </p:cNvPr>
              <p:cNvSpPr txBox="1"/>
              <p:nvPr/>
            </p:nvSpPr>
            <p:spPr>
              <a:xfrm>
                <a:off x="5182706" y="2887334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6A94AD-3CA2-134D-B548-14AF2242C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706" y="2887334"/>
                <a:ext cx="443619" cy="276999"/>
              </a:xfrm>
              <a:prstGeom prst="rect">
                <a:avLst/>
              </a:prstGeom>
              <a:blipFill>
                <a:blip r:embed="rId15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5" name="Table 95">
                <a:extLst>
                  <a:ext uri="{FF2B5EF4-FFF2-40B4-BE49-F238E27FC236}">
                    <a16:creationId xmlns:a16="http://schemas.microsoft.com/office/drawing/2014/main" id="{40A2E123-65AC-024C-9086-64D525FB31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34325" y="4592239"/>
              <a:ext cx="628835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0565">
                      <a:extLst>
                        <a:ext uri="{9D8B030D-6E8A-4147-A177-3AD203B41FA5}">
                          <a16:colId xmlns:a16="http://schemas.microsoft.com/office/drawing/2014/main" val="2613702310"/>
                        </a:ext>
                      </a:extLst>
                    </a:gridCol>
                    <a:gridCol w="3018396">
                      <a:extLst>
                        <a:ext uri="{9D8B030D-6E8A-4147-A177-3AD203B41FA5}">
                          <a16:colId xmlns:a16="http://schemas.microsoft.com/office/drawing/2014/main" val="3104538149"/>
                        </a:ext>
                      </a:extLst>
                    </a:gridCol>
                    <a:gridCol w="2699389">
                      <a:extLst>
                        <a:ext uri="{9D8B030D-6E8A-4147-A177-3AD203B41FA5}">
                          <a16:colId xmlns:a16="http://schemas.microsoft.com/office/drawing/2014/main" val="2437461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2 (Neuron output)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68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25816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2622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𝑢𝑡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185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5" name="Table 95">
                <a:extLst>
                  <a:ext uri="{FF2B5EF4-FFF2-40B4-BE49-F238E27FC236}">
                    <a16:creationId xmlns:a16="http://schemas.microsoft.com/office/drawing/2014/main" id="{40A2E123-65AC-024C-9086-64D525FB31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34325" y="4592239"/>
              <a:ext cx="628835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0565">
                      <a:extLst>
                        <a:ext uri="{9D8B030D-6E8A-4147-A177-3AD203B41FA5}">
                          <a16:colId xmlns:a16="http://schemas.microsoft.com/office/drawing/2014/main" val="2613702310"/>
                        </a:ext>
                      </a:extLst>
                    </a:gridCol>
                    <a:gridCol w="3018396">
                      <a:extLst>
                        <a:ext uri="{9D8B030D-6E8A-4147-A177-3AD203B41FA5}">
                          <a16:colId xmlns:a16="http://schemas.microsoft.com/office/drawing/2014/main" val="3104538149"/>
                        </a:ext>
                      </a:extLst>
                    </a:gridCol>
                    <a:gridCol w="2699389">
                      <a:extLst>
                        <a:ext uri="{9D8B030D-6E8A-4147-A177-3AD203B41FA5}">
                          <a16:colId xmlns:a16="http://schemas.microsoft.com/office/drawing/2014/main" val="2437461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Step 2 (Neuron output)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68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222" t="-110345" r="-1006667" b="-2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328" t="-110345" r="-90336" b="-2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333" t="-110345" r="-939" b="-2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25816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222" t="-203333" r="-1006667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328" t="-203333" r="-90336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333" t="-203333" r="-939" b="-1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2622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222" t="-313793" r="-1006667" b="-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9328" t="-313793" r="-90336" b="-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33333" t="-313793" r="-939" b="-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185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E7B625-EAFA-554D-8435-7EE99C662048}"/>
                  </a:ext>
                </a:extLst>
              </p:cNvPr>
              <p:cNvSpPr txBox="1"/>
              <p:nvPr/>
            </p:nvSpPr>
            <p:spPr>
              <a:xfrm>
                <a:off x="4379307" y="1523480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E7B625-EAFA-554D-8435-7EE99C662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07" y="1523480"/>
                <a:ext cx="443619" cy="276999"/>
              </a:xfrm>
              <a:prstGeom prst="rect">
                <a:avLst/>
              </a:prstGeom>
              <a:blipFill>
                <a:blip r:embed="rId1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F48FB27-5491-8D42-8668-778E917A6F32}"/>
                  </a:ext>
                </a:extLst>
              </p:cNvPr>
              <p:cNvSpPr txBox="1"/>
              <p:nvPr/>
            </p:nvSpPr>
            <p:spPr>
              <a:xfrm>
                <a:off x="4405357" y="2356813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F48FB27-5491-8D42-8668-778E917A6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357" y="2356813"/>
                <a:ext cx="443619" cy="276999"/>
              </a:xfrm>
              <a:prstGeom prst="rect">
                <a:avLst/>
              </a:prstGeom>
              <a:blipFill>
                <a:blip r:embed="rId1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1B0CB54-52FF-904F-AC96-E9C2013DBF08}"/>
                  </a:ext>
                </a:extLst>
              </p:cNvPr>
              <p:cNvSpPr txBox="1"/>
              <p:nvPr/>
            </p:nvSpPr>
            <p:spPr>
              <a:xfrm>
                <a:off x="6899692" y="2760865"/>
                <a:ext cx="83185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(sit/run)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1B0CB54-52FF-904F-AC96-E9C2013DB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692" y="2760865"/>
                <a:ext cx="831855" cy="553998"/>
              </a:xfrm>
              <a:prstGeom prst="rect">
                <a:avLst/>
              </a:prstGeom>
              <a:blipFill>
                <a:blip r:embed="rId19"/>
                <a:stretch>
                  <a:fillRect l="-18182" r="-1363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D88F264-231E-F14D-B8EE-6B39CD922BD4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6730477" y="2713853"/>
            <a:ext cx="537763" cy="0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3D404D4-7B45-8B4B-AE59-0874628733F3}"/>
              </a:ext>
            </a:extLst>
          </p:cNvPr>
          <p:cNvSpPr/>
          <p:nvPr/>
        </p:nvSpPr>
        <p:spPr>
          <a:xfrm>
            <a:off x="1034325" y="4226051"/>
            <a:ext cx="6288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Computations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6323229-2D24-9C4C-A20F-D9A04A0B7B82}"/>
              </a:ext>
            </a:extLst>
          </p:cNvPr>
          <p:cNvSpPr txBox="1"/>
          <p:nvPr/>
        </p:nvSpPr>
        <p:spPr>
          <a:xfrm>
            <a:off x="1580887" y="6112049"/>
            <a:ext cx="2942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Inner product of the input and weights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0E2DF77-4ED6-5E44-9C9F-F21CA3167CA2}"/>
              </a:ext>
            </a:extLst>
          </p:cNvPr>
          <p:cNvSpPr txBox="1"/>
          <p:nvPr/>
        </p:nvSpPr>
        <p:spPr>
          <a:xfrm>
            <a:off x="4547922" y="6112049"/>
            <a:ext cx="2774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Activation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ontent Placeholder 1">
                <a:extLst>
                  <a:ext uri="{FF2B5EF4-FFF2-40B4-BE49-F238E27FC236}">
                    <a16:creationId xmlns:a16="http://schemas.microsoft.com/office/drawing/2014/main" id="{B9EA7334-B0EF-E94A-B265-5B8594888E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3383" y="1457609"/>
                <a:ext cx="4199415" cy="29623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301752" indent="-301752" algn="l" defTabSz="914400" rtl="0" eaLnBrk="1" latinLnBrk="0" hangingPunct="1">
                  <a:spcBef>
                    <a:spcPts val="1100"/>
                  </a:spcBef>
                  <a:buClrTx/>
                  <a:buSzPct val="111000"/>
                  <a:buFont typeface="Wingdings" panose="05000000000000000000" pitchFamily="2" charset="2"/>
                  <a:buChar char="§"/>
                  <a:defRPr sz="2400" b="1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1pPr>
                <a:lvl2pPr marL="573088" indent="-231775" algn="l" defTabSz="914400" rtl="0" eaLnBrk="1" latinLnBrk="0" hangingPunct="1">
                  <a:spcBef>
                    <a:spcPts val="300"/>
                  </a:spcBef>
                  <a:buFont typeface="Arial" panose="020B0604020202020204" pitchFamily="34" charset="0"/>
                  <a:buChar char="–"/>
                  <a:defRPr sz="2200" b="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2pPr>
                <a:lvl3pPr marL="739775" indent="-166688" algn="l" defTabSz="914400" rtl="0" eaLnBrk="1" latinLnBrk="0" hangingPunct="1">
                  <a:spcBef>
                    <a:spcPts val="33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3pPr>
                <a:lvl4pPr marL="1089025" indent="-290513" algn="l" defTabSz="914400" rtl="0" eaLnBrk="1" latinLnBrk="0" hangingPunct="1"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4pPr>
                <a:lvl5pPr marL="1371600" indent="-225425" algn="l" defTabSz="914400" rtl="0" eaLnBrk="1" latinLnBrk="0" hangingPunct="1">
                  <a:spcBef>
                    <a:spcPts val="5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sz="1800" dirty="0"/>
                  <a:t>Case 2 Inputs</a:t>
                </a:r>
              </a:p>
              <a:p>
                <a:pPr marL="558674" lvl="1" indent="-287338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US" sz="1800" dirty="0"/>
                  <a:t>(significant motion)</a:t>
                </a:r>
              </a:p>
              <a:p>
                <a:pPr marL="558674" lvl="1" indent="-287338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(sensor is NOT stretched)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800" dirty="0"/>
                  <a:t>Hidden layer</a:t>
                </a:r>
                <a:endParaRPr lang="en-US" sz="2000" dirty="0"/>
              </a:p>
              <a:p>
                <a:pPr marL="558674" lvl="1" indent="-287338">
                  <a:spcBef>
                    <a:spcPts val="1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=−3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800" b="1" dirty="0"/>
              </a:p>
              <a:p>
                <a:pPr marL="558674" lvl="1" indent="-287338">
                  <a:spcBef>
                    <a:spcPts val="1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solidFill>
                          <a:srgbClr val="9B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b="1" dirty="0">
                    <a:solidFill>
                      <a:srgbClr val="9B0000"/>
                    </a:solidFill>
                  </a:rPr>
                  <a:t>5</a:t>
                </a:r>
                <a:r>
                  <a:rPr lang="en-US" sz="1800" dirty="0"/>
                  <a:t>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800" b="1" dirty="0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800" dirty="0"/>
                  <a:t>Output</a:t>
                </a:r>
                <a:endParaRPr lang="en-US" sz="2000" dirty="0"/>
              </a:p>
              <a:p>
                <a:pPr marL="558674" lvl="1" indent="-287338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sz="1800" dirty="0"/>
              </a:p>
              <a:p>
                <a:pPr marL="271336" lvl="1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271336" lvl="1" indent="0">
                  <a:buNone/>
                </a:pPr>
                <a:endParaRPr lang="en-US" sz="1800" dirty="0"/>
              </a:p>
              <a:p>
                <a:pPr marL="271336" lvl="1" indent="0">
                  <a:buNone/>
                </a:pPr>
                <a:r>
                  <a:rPr lang="en-US" sz="1800" b="1" i="1" dirty="0">
                    <a:solidFill>
                      <a:schemeClr val="accent1">
                        <a:lumMod val="50000"/>
                      </a:schemeClr>
                    </a:solidFill>
                  </a:rPr>
                  <a:t>That is,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  <m:r>
                      <a:rPr lang="en-US" sz="18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8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800" b="1" i="1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br>
                  <a:rPr lang="en-US" sz="1800" b="1" i="1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1800" b="1" i="1" dirty="0">
                    <a:solidFill>
                      <a:schemeClr val="accent1">
                        <a:lumMod val="50000"/>
                      </a:schemeClr>
                    </a:solidFill>
                  </a:rPr>
                  <a:t>implies “RUN”</a:t>
                </a:r>
              </a:p>
              <a:p>
                <a:pPr marL="271336" lvl="1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111" name="Content Placeholder 1">
                <a:extLst>
                  <a:ext uri="{FF2B5EF4-FFF2-40B4-BE49-F238E27FC236}">
                    <a16:creationId xmlns:a16="http://schemas.microsoft.com/office/drawing/2014/main" id="{B9EA7334-B0EF-E94A-B265-5B8594888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383" y="1457609"/>
                <a:ext cx="4199415" cy="2962341"/>
              </a:xfrm>
              <a:prstGeom prst="rect">
                <a:avLst/>
              </a:prstGeom>
              <a:blipFill>
                <a:blip r:embed="rId20"/>
                <a:stretch>
                  <a:fillRect l="-1208" t="-855" b="-31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ectangle 111">
            <a:extLst>
              <a:ext uri="{FF2B5EF4-FFF2-40B4-BE49-F238E27FC236}">
                <a16:creationId xmlns:a16="http://schemas.microsoft.com/office/drawing/2014/main" id="{0E621C14-B795-3740-A5F6-F4857E6ADC44}"/>
              </a:ext>
            </a:extLst>
          </p:cNvPr>
          <p:cNvSpPr/>
          <p:nvPr/>
        </p:nvSpPr>
        <p:spPr>
          <a:xfrm>
            <a:off x="7853383" y="1048401"/>
            <a:ext cx="41801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9B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Input/Output</a:t>
            </a:r>
          </a:p>
        </p:txBody>
      </p:sp>
    </p:spTree>
    <p:extLst>
      <p:ext uri="{BB962C8B-B14F-4D97-AF65-F5344CB8AC3E}">
        <p14:creationId xmlns:p14="http://schemas.microsoft.com/office/powerpoint/2010/main" val="142127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535975-E234-6548-86A1-5AA6EB9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3" y="1007658"/>
            <a:ext cx="11582397" cy="5749758"/>
          </a:xfrm>
        </p:spPr>
        <p:txBody>
          <a:bodyPr>
            <a:normAutofit/>
          </a:bodyPr>
          <a:lstStyle/>
          <a:p>
            <a:r>
              <a:rPr lang="en-US" sz="2200" dirty="0"/>
              <a:t>Inputs</a:t>
            </a:r>
          </a:p>
          <a:p>
            <a:pPr lvl="1"/>
            <a:r>
              <a:rPr lang="en-US" sz="2000" dirty="0"/>
              <a:t>Assume that each input is discretized to 2 bit signed numbers: </a:t>
            </a:r>
            <a:r>
              <a:rPr lang="en-US" sz="2000" b="1" dirty="0"/>
              <a:t>2’b11 = -1; 2’b00 = 0; 2’b01 = 1</a:t>
            </a:r>
          </a:p>
          <a:p>
            <a:pPr lvl="1"/>
            <a:r>
              <a:rPr lang="en-US" sz="2000" dirty="0"/>
              <a:t>Assume that </a:t>
            </a:r>
            <a:r>
              <a:rPr lang="en-US" sz="2000" b="1" dirty="0"/>
              <a:t>2’b10 = -2 </a:t>
            </a:r>
            <a:r>
              <a:rPr lang="en-US" sz="2000" dirty="0"/>
              <a:t>will not be used.</a:t>
            </a:r>
            <a:endParaRPr lang="en-US" sz="2000" b="1" i="1" dirty="0"/>
          </a:p>
          <a:p>
            <a:r>
              <a:rPr lang="en-US" sz="2200" dirty="0"/>
              <a:t>Weights</a:t>
            </a:r>
          </a:p>
          <a:p>
            <a:pPr lvl="1"/>
            <a:r>
              <a:rPr lang="en-US" sz="2000" dirty="0"/>
              <a:t>Assume the weights are 2 bit signed numbers: </a:t>
            </a:r>
            <a:r>
              <a:rPr lang="en-US" sz="2000" b="1" dirty="0"/>
              <a:t>2’b11 = -1; 2’b00 = 0; 2’b01 = 1</a:t>
            </a:r>
          </a:p>
          <a:p>
            <a:pPr lvl="1"/>
            <a:r>
              <a:rPr lang="en-US" sz="2000" dirty="0"/>
              <a:t>Assume that </a:t>
            </a:r>
            <a:r>
              <a:rPr lang="en-US" sz="2000" b="1" dirty="0"/>
              <a:t>2’b10 = -2 </a:t>
            </a:r>
            <a:r>
              <a:rPr lang="en-US" sz="2000" dirty="0"/>
              <a:t>will not be used.</a:t>
            </a:r>
          </a:p>
          <a:p>
            <a:r>
              <a:rPr lang="en-US" sz="2200" dirty="0"/>
              <a:t>Activation function output z = f(y)</a:t>
            </a:r>
          </a:p>
          <a:p>
            <a:pPr lvl="1"/>
            <a:r>
              <a:rPr lang="en-US" sz="2000" dirty="0"/>
              <a:t>z = 0: If the input is negative</a:t>
            </a:r>
          </a:p>
          <a:p>
            <a:pPr lvl="1"/>
            <a:r>
              <a:rPr lang="en-US" sz="2000" dirty="0"/>
              <a:t>z = y: If the input is positive</a:t>
            </a:r>
            <a:endParaRPr lang="en-US" sz="2000" strike="sngStrike" dirty="0"/>
          </a:p>
          <a:p>
            <a:pPr marL="341313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891CFD-A254-DD46-A2E4-73AC42727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Simplifying Assumptions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F43EF04-ED1E-AA48-A9F8-D983210F848D}"/>
              </a:ext>
            </a:extLst>
          </p:cNvPr>
          <p:cNvCxnSpPr>
            <a:cxnSpLocks/>
          </p:cNvCxnSpPr>
          <p:nvPr/>
        </p:nvCxnSpPr>
        <p:spPr>
          <a:xfrm flipV="1">
            <a:off x="8515786" y="4941948"/>
            <a:ext cx="0" cy="1437912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40E7B4-CA4D-AB4D-A12C-8DB8A6D6BA92}"/>
              </a:ext>
            </a:extLst>
          </p:cNvPr>
          <p:cNvCxnSpPr>
            <a:cxnSpLocks/>
          </p:cNvCxnSpPr>
          <p:nvPr/>
        </p:nvCxnSpPr>
        <p:spPr>
          <a:xfrm>
            <a:off x="6449661" y="6379860"/>
            <a:ext cx="432769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CEAD62-22C4-B240-81B9-F6CA6DF0B298}"/>
              </a:ext>
            </a:extLst>
          </p:cNvPr>
          <p:cNvCxnSpPr/>
          <p:nvPr/>
        </p:nvCxnSpPr>
        <p:spPr>
          <a:xfrm>
            <a:off x="6952232" y="6379860"/>
            <a:ext cx="15635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963FC5-5A1A-864B-B2AB-C4F2BA1CA095}"/>
              </a:ext>
            </a:extLst>
          </p:cNvPr>
          <p:cNvCxnSpPr>
            <a:cxnSpLocks/>
          </p:cNvCxnSpPr>
          <p:nvPr/>
        </p:nvCxnSpPr>
        <p:spPr>
          <a:xfrm flipV="1">
            <a:off x="8515786" y="5646945"/>
            <a:ext cx="732915" cy="7329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4D56BE-67CD-1A4A-9BD6-9FFED0B9A4CA}"/>
              </a:ext>
            </a:extLst>
          </p:cNvPr>
          <p:cNvCxnSpPr>
            <a:cxnSpLocks/>
          </p:cNvCxnSpPr>
          <p:nvPr/>
        </p:nvCxnSpPr>
        <p:spPr>
          <a:xfrm>
            <a:off x="8515786" y="5646945"/>
            <a:ext cx="73291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23AE57D-41D7-514A-9499-DEE96C58E180}"/>
              </a:ext>
            </a:extLst>
          </p:cNvPr>
          <p:cNvSpPr txBox="1"/>
          <p:nvPr/>
        </p:nvSpPr>
        <p:spPr>
          <a:xfrm>
            <a:off x="8135368" y="4564393"/>
            <a:ext cx="166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(2-bit output)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175243-4BE5-0440-9D42-C3ECB3ADEB05}"/>
              </a:ext>
            </a:extLst>
          </p:cNvPr>
          <p:cNvSpPr txBox="1"/>
          <p:nvPr/>
        </p:nvSpPr>
        <p:spPr>
          <a:xfrm>
            <a:off x="8135368" y="5432149"/>
            <a:ext cx="516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A01044-7CDB-1D41-A590-C139DB80B952}"/>
              </a:ext>
            </a:extLst>
          </p:cNvPr>
          <p:cNvSpPr txBox="1"/>
          <p:nvPr/>
        </p:nvSpPr>
        <p:spPr>
          <a:xfrm>
            <a:off x="10170085" y="6360166"/>
            <a:ext cx="143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(2-bit)</a:t>
            </a:r>
          </a:p>
        </p:txBody>
      </p:sp>
    </p:spTree>
    <p:extLst>
      <p:ext uri="{BB962C8B-B14F-4D97-AF65-F5344CB8AC3E}">
        <p14:creationId xmlns:p14="http://schemas.microsoft.com/office/powerpoint/2010/main" val="155292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C0CBE0-2249-7941-B24B-C0B27D23A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Datapath for a Neuron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7C81746-07A8-3E48-A752-5CE3E4C1673C}"/>
              </a:ext>
            </a:extLst>
          </p:cNvPr>
          <p:cNvSpPr/>
          <p:nvPr/>
        </p:nvSpPr>
        <p:spPr>
          <a:xfrm>
            <a:off x="1228263" y="1396231"/>
            <a:ext cx="2083064" cy="2510864"/>
          </a:xfrm>
          <a:prstGeom prst="roundRect">
            <a:avLst>
              <a:gd name="adj" fmla="val 964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E176E4-EED6-2148-B519-96789F9981E7}"/>
              </a:ext>
            </a:extLst>
          </p:cNvPr>
          <p:cNvSpPr/>
          <p:nvPr/>
        </p:nvSpPr>
        <p:spPr>
          <a:xfrm>
            <a:off x="317537" y="1396231"/>
            <a:ext cx="742384" cy="25108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72E12C1-E965-0F4C-901E-0BEBA557D8F3}"/>
                  </a:ext>
                </a:extLst>
              </p:cNvPr>
              <p:cNvSpPr/>
              <p:nvPr/>
            </p:nvSpPr>
            <p:spPr>
              <a:xfrm>
                <a:off x="490944" y="1628107"/>
                <a:ext cx="402336" cy="402336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72E12C1-E965-0F4C-901E-0BEBA557D8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44" y="1628107"/>
                <a:ext cx="402336" cy="402336"/>
              </a:xfrm>
              <a:prstGeom prst="ellipse">
                <a:avLst/>
              </a:prstGeom>
              <a:blipFill>
                <a:blip r:embed="rId3"/>
                <a:stretch>
                  <a:fillRect l="-20588"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0AE83A2-A3A7-B742-8489-30C8D381413C}"/>
                  </a:ext>
                </a:extLst>
              </p:cNvPr>
              <p:cNvSpPr/>
              <p:nvPr/>
            </p:nvSpPr>
            <p:spPr>
              <a:xfrm>
                <a:off x="485878" y="2485182"/>
                <a:ext cx="402336" cy="402336"/>
              </a:xfrm>
              <a:prstGeom prst="ellipse">
                <a:avLst/>
              </a:prstGeom>
              <a:solidFill>
                <a:srgbClr val="9B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0AE83A2-A3A7-B742-8489-30C8D38141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78" y="2485182"/>
                <a:ext cx="402336" cy="402336"/>
              </a:xfrm>
              <a:prstGeom prst="ellipse">
                <a:avLst/>
              </a:prstGeom>
              <a:blipFill>
                <a:blip r:embed="rId4"/>
                <a:stretch>
                  <a:fillRect l="-17143" b="-88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89B28420-C7C9-3548-8D3E-9ACC4DA6779F}"/>
              </a:ext>
            </a:extLst>
          </p:cNvPr>
          <p:cNvSpPr/>
          <p:nvPr/>
        </p:nvSpPr>
        <p:spPr>
          <a:xfrm>
            <a:off x="490944" y="3346711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51723-F4EA-E844-A6B7-1DD5A828900B}"/>
              </a:ext>
            </a:extLst>
          </p:cNvPr>
          <p:cNvSpPr txBox="1"/>
          <p:nvPr/>
        </p:nvSpPr>
        <p:spPr>
          <a:xfrm>
            <a:off x="60869" y="980741"/>
            <a:ext cx="1312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Input Layer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7155B4-9CD6-5F4A-822C-BD72887847CA}"/>
              </a:ext>
            </a:extLst>
          </p:cNvPr>
          <p:cNvSpPr txBox="1"/>
          <p:nvPr/>
        </p:nvSpPr>
        <p:spPr>
          <a:xfrm>
            <a:off x="1373245" y="986535"/>
            <a:ext cx="2101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Hidden Layer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DA7806-BA8F-6749-A3C3-C7FA1D4C2D16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893280" y="1829275"/>
            <a:ext cx="1885993" cy="0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0A0A25-8E85-DF4D-B4D6-1C81906C10D6}"/>
              </a:ext>
            </a:extLst>
          </p:cNvPr>
          <p:cNvCxnSpPr>
            <a:cxnSpLocks/>
            <a:stCxn id="7" idx="6"/>
            <a:endCxn id="24" idx="2"/>
          </p:cNvCxnSpPr>
          <p:nvPr/>
        </p:nvCxnSpPr>
        <p:spPr>
          <a:xfrm flipV="1">
            <a:off x="888214" y="1829275"/>
            <a:ext cx="1891059" cy="857075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D50080-EBD8-794D-A022-852E739A34AD}"/>
              </a:ext>
            </a:extLst>
          </p:cNvPr>
          <p:cNvCxnSpPr>
            <a:cxnSpLocks/>
            <a:stCxn id="8" idx="6"/>
            <a:endCxn id="24" idx="3"/>
          </p:cNvCxnSpPr>
          <p:nvPr/>
        </p:nvCxnSpPr>
        <p:spPr>
          <a:xfrm flipV="1">
            <a:off x="893280" y="1971522"/>
            <a:ext cx="1944914" cy="1576357"/>
          </a:xfrm>
          <a:prstGeom prst="straightConnector1">
            <a:avLst/>
          </a:prstGeom>
          <a:ln w="158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B6AC935-E48A-1042-85F5-5577B98EF03B}"/>
                  </a:ext>
                </a:extLst>
              </p:cNvPr>
              <p:cNvSpPr/>
              <p:nvPr/>
            </p:nvSpPr>
            <p:spPr>
              <a:xfrm>
                <a:off x="2779273" y="1628107"/>
                <a:ext cx="402336" cy="40233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B6AC935-E48A-1042-85F5-5577B98EF0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273" y="1628107"/>
                <a:ext cx="402336" cy="402336"/>
              </a:xfrm>
              <a:prstGeom prst="ellipse">
                <a:avLst/>
              </a:prstGeom>
              <a:blipFill>
                <a:blip r:embed="rId5"/>
                <a:stretch>
                  <a:fillRect l="-20588" b="-1176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F3B94-8196-E542-A43E-3641256D9A32}"/>
                  </a:ext>
                </a:extLst>
              </p:cNvPr>
              <p:cNvSpPr txBox="1"/>
              <p:nvPr/>
            </p:nvSpPr>
            <p:spPr>
              <a:xfrm>
                <a:off x="1439642" y="1535817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F3B94-8196-E542-A43E-3641256D9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642" y="1535817"/>
                <a:ext cx="443619" cy="276999"/>
              </a:xfrm>
              <a:prstGeom prst="rect">
                <a:avLst/>
              </a:prstGeom>
              <a:blipFill>
                <a:blip r:embed="rId6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F9B8DB-EB4E-3443-8B5A-91E4827E7C12}"/>
                  </a:ext>
                </a:extLst>
              </p:cNvPr>
              <p:cNvSpPr txBox="1"/>
              <p:nvPr/>
            </p:nvSpPr>
            <p:spPr>
              <a:xfrm>
                <a:off x="1439641" y="2350429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F9B8DB-EB4E-3443-8B5A-91E4827E7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641" y="2350429"/>
                <a:ext cx="443619" cy="276999"/>
              </a:xfrm>
              <a:prstGeom prst="rect">
                <a:avLst/>
              </a:prstGeom>
              <a:blipFill>
                <a:blip r:embed="rId7"/>
                <a:stretch>
                  <a:fillRect l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3905DE-8733-864D-A7B4-967274519FEB}"/>
                  </a:ext>
                </a:extLst>
              </p:cNvPr>
              <p:cNvSpPr txBox="1"/>
              <p:nvPr/>
            </p:nvSpPr>
            <p:spPr>
              <a:xfrm>
                <a:off x="1789428" y="2735783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3905DE-8733-864D-A7B4-967274519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28" y="2735783"/>
                <a:ext cx="443619" cy="276999"/>
              </a:xfrm>
              <a:prstGeom prst="rect">
                <a:avLst/>
              </a:prstGeom>
              <a:blipFill>
                <a:blip r:embed="rId8"/>
                <a:stretch>
                  <a:fillRect l="-5714" r="-285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1E9941-E4E5-8F45-974B-466DCE89A59E}"/>
                  </a:ext>
                </a:extLst>
              </p:cNvPr>
              <p:cNvSpPr txBox="1"/>
              <p:nvPr/>
            </p:nvSpPr>
            <p:spPr>
              <a:xfrm>
                <a:off x="2882676" y="2017414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1E9941-E4E5-8F45-974B-466DCE89A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676" y="2017414"/>
                <a:ext cx="443619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BC4EA21-46A6-E74F-8A22-F80854E44632}"/>
                  </a:ext>
                </a:extLst>
              </p:cNvPr>
              <p:cNvSpPr txBox="1"/>
              <p:nvPr/>
            </p:nvSpPr>
            <p:spPr>
              <a:xfrm>
                <a:off x="9709531" y="3768184"/>
                <a:ext cx="4436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BC4EA21-46A6-E74F-8A22-F80854E44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531" y="3768184"/>
                <a:ext cx="443619" cy="276999"/>
              </a:xfrm>
              <a:prstGeom prst="rect">
                <a:avLst/>
              </a:prstGeom>
              <a:blipFill>
                <a:blip r:embed="rId1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55932E02-0BD9-D641-A9CE-EC96172A801C}"/>
              </a:ext>
            </a:extLst>
          </p:cNvPr>
          <p:cNvSpPr txBox="1"/>
          <p:nvPr/>
        </p:nvSpPr>
        <p:spPr>
          <a:xfrm>
            <a:off x="4003131" y="4802875"/>
            <a:ext cx="457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Multiply Accumulate (MAC) Unit</a:t>
            </a:r>
          </a:p>
        </p:txBody>
      </p:sp>
      <p:sp>
        <p:nvSpPr>
          <p:cNvPr id="154" name="Left Brace 153">
            <a:extLst>
              <a:ext uri="{FF2B5EF4-FFF2-40B4-BE49-F238E27FC236}">
                <a16:creationId xmlns:a16="http://schemas.microsoft.com/office/drawing/2014/main" id="{18C14C1D-E12A-9646-B62C-F48A6E3F766C}"/>
              </a:ext>
            </a:extLst>
          </p:cNvPr>
          <p:cNvSpPr/>
          <p:nvPr/>
        </p:nvSpPr>
        <p:spPr>
          <a:xfrm rot="16200000">
            <a:off x="8930538" y="4040729"/>
            <a:ext cx="301978" cy="1391792"/>
          </a:xfrm>
          <a:prstGeom prst="leftBrace">
            <a:avLst>
              <a:gd name="adj1" fmla="val 2563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E4E33C1F-6D54-344B-B96F-B7242368E776}"/>
                  </a:ext>
                </a:extLst>
              </p:cNvPr>
              <p:cNvSpPr txBox="1"/>
              <p:nvPr/>
            </p:nvSpPr>
            <p:spPr>
              <a:xfrm>
                <a:off x="8385631" y="4830679"/>
                <a:ext cx="13896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Activation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⁡(0,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E4E33C1F-6D54-344B-B96F-B7242368E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631" y="4830679"/>
                <a:ext cx="1389655" cy="646331"/>
              </a:xfrm>
              <a:prstGeom prst="rect">
                <a:avLst/>
              </a:prstGeom>
              <a:blipFill>
                <a:blip r:embed="rId11"/>
                <a:stretch>
                  <a:fillRect t="-3846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3DE8E05-83D0-4941-B6FF-1061B90EFF23}"/>
              </a:ext>
            </a:extLst>
          </p:cNvPr>
          <p:cNvGrpSpPr/>
          <p:nvPr/>
        </p:nvGrpSpPr>
        <p:grpSpPr>
          <a:xfrm>
            <a:off x="3480614" y="1259212"/>
            <a:ext cx="6504270" cy="3429876"/>
            <a:chOff x="3872492" y="1349952"/>
            <a:chExt cx="7131362" cy="3429876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97A5005-A132-A045-8880-86FE8272B37C}"/>
                </a:ext>
              </a:extLst>
            </p:cNvPr>
            <p:cNvGrpSpPr/>
            <p:nvPr/>
          </p:nvGrpSpPr>
          <p:grpSpPr>
            <a:xfrm>
              <a:off x="6478029" y="1623047"/>
              <a:ext cx="1049761" cy="2290116"/>
              <a:chOff x="7049210" y="1698514"/>
              <a:chExt cx="1292668" cy="2339382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EA365400-D36D-9F4B-8036-06FA971094B3}"/>
                  </a:ext>
                </a:extLst>
              </p:cNvPr>
              <p:cNvGrpSpPr/>
              <p:nvPr/>
            </p:nvGrpSpPr>
            <p:grpSpPr>
              <a:xfrm>
                <a:off x="7049210" y="1698514"/>
                <a:ext cx="1292668" cy="2339382"/>
                <a:chOff x="7878384" y="1681248"/>
                <a:chExt cx="1292668" cy="2073839"/>
              </a:xfrm>
            </p:grpSpPr>
            <p:sp>
              <p:nvSpPr>
                <p:cNvPr id="91" name="Snip Same Side Corner Rectangle 90">
                  <a:extLst>
                    <a:ext uri="{FF2B5EF4-FFF2-40B4-BE49-F238E27FC236}">
                      <a16:creationId xmlns:a16="http://schemas.microsoft.com/office/drawing/2014/main" id="{791FE47F-B21C-6240-9EA9-B966FB8ECD07}"/>
                    </a:ext>
                  </a:extLst>
                </p:cNvPr>
                <p:cNvSpPr/>
                <p:nvPr/>
              </p:nvSpPr>
              <p:spPr>
                <a:xfrm rot="5400000">
                  <a:off x="7487799" y="2071835"/>
                  <a:ext cx="2073839" cy="1292666"/>
                </a:xfrm>
                <a:prstGeom prst="snip2SameRect">
                  <a:avLst>
                    <a:gd name="adj1" fmla="val 36878"/>
                    <a:gd name="adj2" fmla="val 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92" name="Triangle 91">
                  <a:extLst>
                    <a:ext uri="{FF2B5EF4-FFF2-40B4-BE49-F238E27FC236}">
                      <a16:creationId xmlns:a16="http://schemas.microsoft.com/office/drawing/2014/main" id="{9C937EAD-0BB1-604F-A99C-A5904429874A}"/>
                    </a:ext>
                  </a:extLst>
                </p:cNvPr>
                <p:cNvSpPr/>
                <p:nvPr/>
              </p:nvSpPr>
              <p:spPr>
                <a:xfrm rot="5400000">
                  <a:off x="7744943" y="2496374"/>
                  <a:ext cx="710472" cy="443589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87029B81-5EE9-E548-9480-B7ED2326DAAD}"/>
                    </a:ext>
                  </a:extLst>
                </p:cNvPr>
                <p:cNvCxnSpPr>
                  <a:stCxn id="92" idx="2"/>
                </p:cNvCxnSpPr>
                <p:nvPr/>
              </p:nvCxnSpPr>
              <p:spPr>
                <a:xfrm flipH="1">
                  <a:off x="7878384" y="2362933"/>
                  <a:ext cx="1" cy="710472"/>
                </a:xfrm>
                <a:prstGeom prst="line">
                  <a:avLst/>
                </a:prstGeom>
                <a:ln w="2222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455258D-EE4A-E342-9C5A-59E0FCEF1D4E}"/>
                  </a:ext>
                </a:extLst>
              </p:cNvPr>
              <p:cNvSpPr txBox="1"/>
              <p:nvPr/>
            </p:nvSpPr>
            <p:spPr>
              <a:xfrm>
                <a:off x="7633374" y="2558052"/>
                <a:ext cx="3918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+</a:t>
                </a:r>
                <a:endParaRPr lang="en-US" sz="2400" b="1" dirty="0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0C274687-3D41-E646-8002-E402FD22BC3C}"/>
                </a:ext>
              </a:extLst>
            </p:cNvPr>
            <p:cNvGrpSpPr/>
            <p:nvPr/>
          </p:nvGrpSpPr>
          <p:grpSpPr>
            <a:xfrm>
              <a:off x="8069670" y="2464484"/>
              <a:ext cx="1049761" cy="2290116"/>
              <a:chOff x="7049210" y="1698514"/>
              <a:chExt cx="1292668" cy="2339382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19B68F-7426-0E40-8A9F-A35EDD0895A8}"/>
                  </a:ext>
                </a:extLst>
              </p:cNvPr>
              <p:cNvGrpSpPr/>
              <p:nvPr/>
            </p:nvGrpSpPr>
            <p:grpSpPr>
              <a:xfrm>
                <a:off x="7049210" y="1698514"/>
                <a:ext cx="1292668" cy="2339382"/>
                <a:chOff x="7878384" y="1681248"/>
                <a:chExt cx="1292668" cy="2073839"/>
              </a:xfrm>
            </p:grpSpPr>
            <p:sp>
              <p:nvSpPr>
                <p:cNvPr id="108" name="Snip Same Side Corner Rectangle 107">
                  <a:extLst>
                    <a:ext uri="{FF2B5EF4-FFF2-40B4-BE49-F238E27FC236}">
                      <a16:creationId xmlns:a16="http://schemas.microsoft.com/office/drawing/2014/main" id="{796AEFD3-3ECF-1245-8CDC-453D056DF07C}"/>
                    </a:ext>
                  </a:extLst>
                </p:cNvPr>
                <p:cNvSpPr/>
                <p:nvPr/>
              </p:nvSpPr>
              <p:spPr>
                <a:xfrm rot="5400000">
                  <a:off x="7487799" y="2071835"/>
                  <a:ext cx="2073839" cy="1292666"/>
                </a:xfrm>
                <a:prstGeom prst="snip2SameRect">
                  <a:avLst>
                    <a:gd name="adj1" fmla="val 36878"/>
                    <a:gd name="adj2" fmla="val 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109" name="Triangle 108">
                  <a:extLst>
                    <a:ext uri="{FF2B5EF4-FFF2-40B4-BE49-F238E27FC236}">
                      <a16:creationId xmlns:a16="http://schemas.microsoft.com/office/drawing/2014/main" id="{42C4D3CB-37D1-3D4E-9705-71A91D997A71}"/>
                    </a:ext>
                  </a:extLst>
                </p:cNvPr>
                <p:cNvSpPr/>
                <p:nvPr/>
              </p:nvSpPr>
              <p:spPr>
                <a:xfrm rot="5400000">
                  <a:off x="7744943" y="2496374"/>
                  <a:ext cx="710472" cy="443589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555FFA19-2ACB-D049-9B2C-FE463171EBDD}"/>
                    </a:ext>
                  </a:extLst>
                </p:cNvPr>
                <p:cNvCxnSpPr>
                  <a:stCxn id="109" idx="2"/>
                </p:cNvCxnSpPr>
                <p:nvPr/>
              </p:nvCxnSpPr>
              <p:spPr>
                <a:xfrm flipH="1">
                  <a:off x="7878384" y="2362933"/>
                  <a:ext cx="1" cy="710472"/>
                </a:xfrm>
                <a:prstGeom prst="line">
                  <a:avLst/>
                </a:prstGeom>
                <a:ln w="2222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8C03CD7-4282-CC40-B8CD-D0EF7981EB52}"/>
                  </a:ext>
                </a:extLst>
              </p:cNvPr>
              <p:cNvSpPr txBox="1"/>
              <p:nvPr/>
            </p:nvSpPr>
            <p:spPr>
              <a:xfrm>
                <a:off x="7633374" y="2558052"/>
                <a:ext cx="3918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+</a:t>
                </a:r>
                <a:endParaRPr lang="en-US" sz="2400" b="1" dirty="0"/>
              </a:p>
            </p:txBody>
          </p:sp>
        </p:grp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212AEAD-4012-7D4A-B5DC-FFAAFB19740A}"/>
                </a:ext>
              </a:extLst>
            </p:cNvPr>
            <p:cNvCxnSpPr>
              <a:cxnSpLocks/>
            </p:cNvCxnSpPr>
            <p:nvPr/>
          </p:nvCxnSpPr>
          <p:spPr>
            <a:xfrm>
              <a:off x="7532604" y="2776129"/>
              <a:ext cx="5370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AA3A814-FD70-1048-88E0-9BD7D64193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6281" y="2684910"/>
              <a:ext cx="143306" cy="195372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A2C3FD0-D289-E84F-A9A0-5B046E2401D0}"/>
                    </a:ext>
                  </a:extLst>
                </p:cNvPr>
                <p:cNvSpPr txBox="1"/>
                <p:nvPr/>
              </p:nvSpPr>
              <p:spPr>
                <a:xfrm>
                  <a:off x="7589594" y="2411815"/>
                  <a:ext cx="44361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A2C3FD0-D289-E84F-A9A0-5B046E240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9594" y="2411815"/>
                  <a:ext cx="443619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E3BE6CE-D1DF-C349-BA87-4ACE86C5FB60}"/>
                    </a:ext>
                  </a:extLst>
                </p:cNvPr>
                <p:cNvSpPr txBox="1"/>
                <p:nvPr/>
              </p:nvSpPr>
              <p:spPr>
                <a:xfrm>
                  <a:off x="6929113" y="4262665"/>
                  <a:ext cx="44361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E3BE6CE-D1DF-C349-BA87-4ACE86C5F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9113" y="4262665"/>
                  <a:ext cx="443619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5556" r="-277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12F5AA18-8DAB-7B4A-BF37-853B21231D69}"/>
                </a:ext>
              </a:extLst>
            </p:cNvPr>
            <p:cNvCxnSpPr>
              <a:cxnSpLocks/>
              <a:stCxn id="115" idx="3"/>
            </p:cNvCxnSpPr>
            <p:nvPr/>
          </p:nvCxnSpPr>
          <p:spPr>
            <a:xfrm>
              <a:off x="7372732" y="4401165"/>
              <a:ext cx="696938" cy="39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4F0687F-43BF-E647-B9F2-B67AD768A8B2}"/>
                </a:ext>
              </a:extLst>
            </p:cNvPr>
            <p:cNvCxnSpPr/>
            <p:nvPr/>
          </p:nvCxnSpPr>
          <p:spPr>
            <a:xfrm flipH="1">
              <a:off x="7596534" y="4299266"/>
              <a:ext cx="143306" cy="195372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1487CB5-E637-F04A-B99C-BF238165E908}"/>
                    </a:ext>
                  </a:extLst>
                </p:cNvPr>
                <p:cNvSpPr txBox="1"/>
                <p:nvPr/>
              </p:nvSpPr>
              <p:spPr>
                <a:xfrm>
                  <a:off x="7499391" y="4490035"/>
                  <a:ext cx="44361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1487CB5-E637-F04A-B99C-BF238165E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391" y="4490035"/>
                  <a:ext cx="443619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B258FBD6-591E-1040-9028-51878A36DB10}"/>
                </a:ext>
              </a:extLst>
            </p:cNvPr>
            <p:cNvGrpSpPr/>
            <p:nvPr/>
          </p:nvGrpSpPr>
          <p:grpSpPr>
            <a:xfrm>
              <a:off x="9126843" y="2455243"/>
              <a:ext cx="1359528" cy="2324585"/>
              <a:chOff x="9126843" y="2455243"/>
              <a:chExt cx="1359528" cy="2324585"/>
            </a:xfrm>
          </p:grpSpPr>
          <p:sp>
            <p:nvSpPr>
              <p:cNvPr id="119" name="Trapezoid 118">
                <a:extLst>
                  <a:ext uri="{FF2B5EF4-FFF2-40B4-BE49-F238E27FC236}">
                    <a16:creationId xmlns:a16="http://schemas.microsoft.com/office/drawing/2014/main" id="{112B1946-AF50-6D4F-9ADB-F9166A540B26}"/>
                  </a:ext>
                </a:extLst>
              </p:cNvPr>
              <p:cNvSpPr/>
              <p:nvPr/>
            </p:nvSpPr>
            <p:spPr>
              <a:xfrm rot="5400000">
                <a:off x="9380910" y="3691353"/>
                <a:ext cx="1733331" cy="443619"/>
              </a:xfrm>
              <a:prstGeom prst="trapezoid">
                <a:avLst>
                  <a:gd name="adj" fmla="val 7367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21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92C74BCD-8786-FE4C-BB50-73CB049DB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6843" y="3591576"/>
                <a:ext cx="89151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589C3EB5-FA4E-2549-8E37-25B61E469A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10819" y="3500357"/>
                <a:ext cx="143306" cy="195372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3607FB39-A855-BC4E-B261-7CB2ACD70953}"/>
                      </a:ext>
                    </a:extLst>
                  </p:cNvPr>
                  <p:cNvSpPr txBox="1"/>
                  <p:nvPr/>
                </p:nvSpPr>
                <p:spPr>
                  <a:xfrm>
                    <a:off x="9384132" y="3227262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3607FB39-A855-BC4E-B261-7CB2ACD709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4132" y="3227262"/>
                    <a:ext cx="443619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1005E741-E0BF-8A47-AA8B-D8585B77DB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5656" y="4310288"/>
                <a:ext cx="696938" cy="390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67E2132B-70C7-6544-B8CA-AB6CBEA82104}"/>
                  </a:ext>
                </a:extLst>
              </p:cNvPr>
              <p:cNvCxnSpPr/>
              <p:nvPr/>
            </p:nvCxnSpPr>
            <p:spPr>
              <a:xfrm flipH="1">
                <a:off x="9529458" y="4208389"/>
                <a:ext cx="143306" cy="195372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34F7EC7-64AA-D74B-B8CC-5A1E37F33858}"/>
                      </a:ext>
                    </a:extLst>
                  </p:cNvPr>
                  <p:cNvSpPr txBox="1"/>
                  <p:nvPr/>
                </p:nvSpPr>
                <p:spPr>
                  <a:xfrm>
                    <a:off x="9176456" y="4396952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34F7EC7-64AA-D74B-B8CC-5A1E37F338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76456" y="4396952"/>
                    <a:ext cx="443619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7" name="Elbow Connector 136">
                <a:extLst>
                  <a:ext uri="{FF2B5EF4-FFF2-40B4-BE49-F238E27FC236}">
                    <a16:creationId xmlns:a16="http://schemas.microsoft.com/office/drawing/2014/main" id="{20DD47C5-B946-124F-BD6B-F7D3E8CDBF4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9628502" y="2968870"/>
                <a:ext cx="375736" cy="872516"/>
              </a:xfrm>
              <a:prstGeom prst="bentConnector3">
                <a:avLst>
                  <a:gd name="adj1" fmla="val 206859"/>
                </a:avLst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C0D28E8-5B8C-2241-8DD6-FF2EB301024D}"/>
                  </a:ext>
                </a:extLst>
              </p:cNvPr>
              <p:cNvSpPr txBox="1"/>
              <p:nvPr/>
            </p:nvSpPr>
            <p:spPr>
              <a:xfrm>
                <a:off x="9397098" y="2455243"/>
                <a:ext cx="1089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Sign bit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71EF28C1-4695-6946-BBAE-E3955CED6197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5513" y="3453076"/>
                    <a:ext cx="26799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71EF28C1-4695-6946-BBAE-E3955CED61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5513" y="3453076"/>
                    <a:ext cx="267991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4545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041A3C9-4760-C245-979B-D66B61C5FFFE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5513" y="4175692"/>
                    <a:ext cx="26799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041A3C9-4760-C245-979B-D66B61C5FF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5513" y="4175692"/>
                    <a:ext cx="267991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4545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1B8A71A5-B24C-114A-943C-7BEEF07516B4}"/>
                </a:ext>
              </a:extLst>
            </p:cNvPr>
            <p:cNvCxnSpPr>
              <a:cxnSpLocks/>
            </p:cNvCxnSpPr>
            <p:nvPr/>
          </p:nvCxnSpPr>
          <p:spPr>
            <a:xfrm>
              <a:off x="10455670" y="3908609"/>
              <a:ext cx="5370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FAD5479F-072D-624D-A732-35B61639B7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9347" y="3817390"/>
              <a:ext cx="143306" cy="195372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2F3F5EEF-BC29-9946-BF21-F8958890A2E6}"/>
                    </a:ext>
                  </a:extLst>
                </p:cNvPr>
                <p:cNvSpPr txBox="1"/>
                <p:nvPr/>
              </p:nvSpPr>
              <p:spPr>
                <a:xfrm>
                  <a:off x="10560235" y="3504623"/>
                  <a:ext cx="44361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2F3F5EEF-BC29-9946-BF21-F8958890A2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0235" y="3504623"/>
                  <a:ext cx="443619" cy="276999"/>
                </a:xfrm>
                <a:prstGeom prst="rect">
                  <a:avLst/>
                </a:prstGeom>
                <a:blipFill>
                  <a:blip r:embed="rId33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A75F666-BFE8-C44D-AB86-9D5C23CF61F4}"/>
                </a:ext>
              </a:extLst>
            </p:cNvPr>
            <p:cNvGrpSpPr/>
            <p:nvPr/>
          </p:nvGrpSpPr>
          <p:grpSpPr>
            <a:xfrm>
              <a:off x="3872492" y="1349952"/>
              <a:ext cx="2592015" cy="1186198"/>
              <a:chOff x="4435802" y="1389724"/>
              <a:chExt cx="2592015" cy="1186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4DED9984-FBB2-1B4C-8841-5D46A143FF15}"/>
                      </a:ext>
                    </a:extLst>
                  </p:cNvPr>
                  <p:cNvSpPr/>
                  <p:nvPr/>
                </p:nvSpPr>
                <p:spPr>
                  <a:xfrm>
                    <a:off x="4514364" y="1556605"/>
                    <a:ext cx="402336" cy="402336"/>
                  </a:xfrm>
                  <a:prstGeom prst="ellipse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4DED9984-FBB2-1B4C-8841-5D46A143FF1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4364" y="1556605"/>
                    <a:ext cx="402336" cy="402336"/>
                  </a:xfrm>
                  <a:prstGeom prst="ellipse">
                    <a:avLst/>
                  </a:prstGeom>
                  <a:blipFill>
                    <a:blip r:embed="rId34"/>
                    <a:stretch>
                      <a:fillRect l="-17647" b="-8824"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A46DF2CF-B798-6A49-95E1-3E7565FFECC7}"/>
                      </a:ext>
                    </a:extLst>
                  </p:cNvPr>
                  <p:cNvSpPr txBox="1"/>
                  <p:nvPr/>
                </p:nvSpPr>
                <p:spPr>
                  <a:xfrm>
                    <a:off x="4435802" y="2071553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A46DF2CF-B798-6A49-95E1-3E7565FFEC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5802" y="2071553"/>
                    <a:ext cx="443619" cy="276999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2778" r="-2778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08CD8C1-C7F3-1543-A131-18CFD8240CF7}"/>
                  </a:ext>
                </a:extLst>
              </p:cNvPr>
              <p:cNvGrpSpPr/>
              <p:nvPr/>
            </p:nvGrpSpPr>
            <p:grpSpPr>
              <a:xfrm>
                <a:off x="5576359" y="1414479"/>
                <a:ext cx="566057" cy="1117466"/>
                <a:chOff x="5410894" y="1414479"/>
                <a:chExt cx="566057" cy="1117466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CBF4251-AF40-DD43-80FD-9A8A82DD8340}"/>
                    </a:ext>
                  </a:extLst>
                </p:cNvPr>
                <p:cNvSpPr/>
                <p:nvPr/>
              </p:nvSpPr>
              <p:spPr>
                <a:xfrm>
                  <a:off x="5410894" y="1715073"/>
                  <a:ext cx="84215" cy="99573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71F040F-7D36-7247-8C3F-641DE689E262}"/>
                    </a:ext>
                  </a:extLst>
                </p:cNvPr>
                <p:cNvSpPr/>
                <p:nvPr/>
              </p:nvSpPr>
              <p:spPr>
                <a:xfrm>
                  <a:off x="5410894" y="2164170"/>
                  <a:ext cx="84215" cy="99573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057F136-F4F8-C345-848A-C6F36E413F0F}"/>
                    </a:ext>
                  </a:extLst>
                </p:cNvPr>
                <p:cNvSpPr/>
                <p:nvPr/>
              </p:nvSpPr>
              <p:spPr>
                <a:xfrm>
                  <a:off x="5884027" y="1933801"/>
                  <a:ext cx="84215" cy="99573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BE22C36E-88DE-F140-86C5-51AFE20CA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10894" y="1414479"/>
                      <a:ext cx="566057" cy="1117466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sz="21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oMath>
                        </m:oMathPara>
                      </a14:m>
                      <a:endParaRPr lang="en-US" sz="21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BE22C36E-88DE-F140-86C5-51AFE20CA03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10894" y="1414479"/>
                      <a:ext cx="566057" cy="1117466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/>
                      </a:stretch>
                    </a:blipFill>
                    <a:ln w="190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B355E7-CD52-9941-B96C-96DC95986894}"/>
                  </a:ext>
                </a:extLst>
              </p:cNvPr>
              <p:cNvCxnSpPr>
                <a:cxnSpLocks/>
                <a:stCxn id="43" idx="6"/>
                <a:endCxn id="47" idx="2"/>
              </p:cNvCxnSpPr>
              <p:nvPr/>
            </p:nvCxnSpPr>
            <p:spPr>
              <a:xfrm>
                <a:off x="4916700" y="1757773"/>
                <a:ext cx="659659" cy="70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1D004490-689F-8543-9FA4-68B39B615449}"/>
                  </a:ext>
                </a:extLst>
              </p:cNvPr>
              <p:cNvCxnSpPr>
                <a:cxnSpLocks/>
                <a:stCxn id="44" idx="3"/>
                <a:endCxn id="48" idx="2"/>
              </p:cNvCxnSpPr>
              <p:nvPr/>
            </p:nvCxnSpPr>
            <p:spPr>
              <a:xfrm>
                <a:off x="4879421" y="2210053"/>
                <a:ext cx="696938" cy="390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2EAE548-AF6F-EF4F-98DC-E604098EC60C}"/>
                  </a:ext>
                </a:extLst>
              </p:cNvPr>
              <p:cNvCxnSpPr/>
              <p:nvPr/>
            </p:nvCxnSpPr>
            <p:spPr>
              <a:xfrm flipH="1">
                <a:off x="5103223" y="1662819"/>
                <a:ext cx="143306" cy="195372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ACC383E-A2F3-BB40-A2D8-D4416D08EDC4}"/>
                  </a:ext>
                </a:extLst>
              </p:cNvPr>
              <p:cNvCxnSpPr/>
              <p:nvPr/>
            </p:nvCxnSpPr>
            <p:spPr>
              <a:xfrm flipH="1">
                <a:off x="5103223" y="2108154"/>
                <a:ext cx="143306" cy="195372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4860421E-055C-0543-BC2E-0C664D02A81F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25" y="1389724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4860421E-055C-0543-BC2E-0C664D02A8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7825" y="1389724"/>
                    <a:ext cx="443619" cy="276999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B47C86E3-6054-4B43-82D7-6E4FECAB4FEC}"/>
                      </a:ext>
                    </a:extLst>
                  </p:cNvPr>
                  <p:cNvSpPr txBox="1"/>
                  <p:nvPr/>
                </p:nvSpPr>
                <p:spPr>
                  <a:xfrm>
                    <a:off x="5006080" y="2298923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B47C86E3-6054-4B43-82D7-6E4FECAB4F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6080" y="2298923"/>
                    <a:ext cx="443619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20F28A3-742F-1C42-B6A5-5A9BBCD96CF6}"/>
                  </a:ext>
                </a:extLst>
              </p:cNvPr>
              <p:cNvCxnSpPr>
                <a:cxnSpLocks/>
                <a:stCxn id="49" idx="6"/>
              </p:cNvCxnSpPr>
              <p:nvPr/>
            </p:nvCxnSpPr>
            <p:spPr>
              <a:xfrm>
                <a:off x="6133707" y="1983588"/>
                <a:ext cx="89411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4FF6FD8-0D2E-B147-965F-095CFB57CD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04474" y="1892369"/>
                <a:ext cx="143306" cy="195372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A043949C-600D-7246-88D7-11372258F48B}"/>
                      </a:ext>
                    </a:extLst>
                  </p:cNvPr>
                  <p:cNvSpPr txBox="1"/>
                  <p:nvPr/>
                </p:nvSpPr>
                <p:spPr>
                  <a:xfrm>
                    <a:off x="6269076" y="1619274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A043949C-600D-7246-88D7-11372258F4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076" y="1619274"/>
                    <a:ext cx="443619" cy="276999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1D0CBD5-5D93-7A40-812A-59AD09324AA5}"/>
                </a:ext>
              </a:extLst>
            </p:cNvPr>
            <p:cNvGrpSpPr/>
            <p:nvPr/>
          </p:nvGrpSpPr>
          <p:grpSpPr>
            <a:xfrm>
              <a:off x="3872492" y="3088931"/>
              <a:ext cx="2592015" cy="1186198"/>
              <a:chOff x="4435802" y="1389724"/>
              <a:chExt cx="2592015" cy="1186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Oval 74">
                    <a:extLst>
                      <a:ext uri="{FF2B5EF4-FFF2-40B4-BE49-F238E27FC236}">
                        <a16:creationId xmlns:a16="http://schemas.microsoft.com/office/drawing/2014/main" id="{043F541D-E721-8F41-92F2-826DE0B28CA0}"/>
                      </a:ext>
                    </a:extLst>
                  </p:cNvPr>
                  <p:cNvSpPr/>
                  <p:nvPr/>
                </p:nvSpPr>
                <p:spPr>
                  <a:xfrm>
                    <a:off x="4514364" y="1556605"/>
                    <a:ext cx="402336" cy="402336"/>
                  </a:xfrm>
                  <a:prstGeom prst="ellipse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75" name="Oval 74">
                    <a:extLst>
                      <a:ext uri="{FF2B5EF4-FFF2-40B4-BE49-F238E27FC236}">
                        <a16:creationId xmlns:a16="http://schemas.microsoft.com/office/drawing/2014/main" id="{043F541D-E721-8F41-92F2-826DE0B28CA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4364" y="1556605"/>
                    <a:ext cx="402336" cy="402336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 l="-17647" b="-11765"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29E16AB9-C20E-8241-9E5B-0D8568644192}"/>
                      </a:ext>
                    </a:extLst>
                  </p:cNvPr>
                  <p:cNvSpPr txBox="1"/>
                  <p:nvPr/>
                </p:nvSpPr>
                <p:spPr>
                  <a:xfrm>
                    <a:off x="4435802" y="2071553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29E16AB9-C20E-8241-9E5B-0D85686441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5802" y="2071553"/>
                    <a:ext cx="443619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778"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24BACC2B-2C82-8A44-90C3-46DD4DD91B34}"/>
                  </a:ext>
                </a:extLst>
              </p:cNvPr>
              <p:cNvGrpSpPr/>
              <p:nvPr/>
            </p:nvGrpSpPr>
            <p:grpSpPr>
              <a:xfrm>
                <a:off x="5576359" y="1414479"/>
                <a:ext cx="566057" cy="1117466"/>
                <a:chOff x="5410894" y="1414479"/>
                <a:chExt cx="566057" cy="1117466"/>
              </a:xfrm>
            </p:grpSpPr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89B64A82-577B-C44A-AA9C-6463E0E7DE77}"/>
                    </a:ext>
                  </a:extLst>
                </p:cNvPr>
                <p:cNvSpPr/>
                <p:nvPr/>
              </p:nvSpPr>
              <p:spPr>
                <a:xfrm>
                  <a:off x="5410894" y="1715073"/>
                  <a:ext cx="84215" cy="99573"/>
                </a:xfrm>
                <a:prstGeom prst="ellipse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C7FC2DD4-D608-2549-9E8A-F95FF3D0C5B0}"/>
                    </a:ext>
                  </a:extLst>
                </p:cNvPr>
                <p:cNvSpPr/>
                <p:nvPr/>
              </p:nvSpPr>
              <p:spPr>
                <a:xfrm>
                  <a:off x="5410894" y="2164170"/>
                  <a:ext cx="84215" cy="99573"/>
                </a:xfrm>
                <a:prstGeom prst="ellipse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AF1A5311-397E-6043-9CFF-04A1A3E5E6BD}"/>
                    </a:ext>
                  </a:extLst>
                </p:cNvPr>
                <p:cNvSpPr/>
                <p:nvPr/>
              </p:nvSpPr>
              <p:spPr>
                <a:xfrm>
                  <a:off x="5884027" y="1933801"/>
                  <a:ext cx="84215" cy="99573"/>
                </a:xfrm>
                <a:prstGeom prst="ellipse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sz="2100" b="1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Rectangle 89">
                      <a:extLst>
                        <a:ext uri="{FF2B5EF4-FFF2-40B4-BE49-F238E27FC236}">
                          <a16:creationId xmlns:a16="http://schemas.microsoft.com/office/drawing/2014/main" id="{7A25C321-BE67-0647-9035-4CCE4C4340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10894" y="1414479"/>
                      <a:ext cx="566057" cy="1117466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sz="21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oMath>
                        </m:oMathPara>
                      </a14:m>
                      <a:endParaRPr lang="en-US" sz="21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90" name="Rectangle 89">
                      <a:extLst>
                        <a:ext uri="{FF2B5EF4-FFF2-40B4-BE49-F238E27FC236}">
                          <a16:creationId xmlns:a16="http://schemas.microsoft.com/office/drawing/2014/main" id="{7A25C321-BE67-0647-9035-4CCE4C4340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10894" y="1414479"/>
                      <a:ext cx="566057" cy="1117466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  <a:ln w="190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F2B28071-41D3-AD46-A270-2DFD0C79E5CE}"/>
                  </a:ext>
                </a:extLst>
              </p:cNvPr>
              <p:cNvCxnSpPr>
                <a:cxnSpLocks/>
                <a:stCxn id="75" idx="6"/>
                <a:endCxn id="87" idx="2"/>
              </p:cNvCxnSpPr>
              <p:nvPr/>
            </p:nvCxnSpPr>
            <p:spPr>
              <a:xfrm>
                <a:off x="4916700" y="1757773"/>
                <a:ext cx="659659" cy="70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0E856AEE-52AF-5940-B2D8-22BB75C81EE8}"/>
                  </a:ext>
                </a:extLst>
              </p:cNvPr>
              <p:cNvCxnSpPr>
                <a:cxnSpLocks/>
                <a:stCxn id="76" idx="3"/>
                <a:endCxn id="88" idx="2"/>
              </p:cNvCxnSpPr>
              <p:nvPr/>
            </p:nvCxnSpPr>
            <p:spPr>
              <a:xfrm>
                <a:off x="4879421" y="2210053"/>
                <a:ext cx="696938" cy="390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EFD2867-2B6B-604A-AC97-7E5B0B912640}"/>
                  </a:ext>
                </a:extLst>
              </p:cNvPr>
              <p:cNvCxnSpPr/>
              <p:nvPr/>
            </p:nvCxnSpPr>
            <p:spPr>
              <a:xfrm flipH="1">
                <a:off x="5103223" y="1662819"/>
                <a:ext cx="143306" cy="195372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E3EBA5A-16BA-1E4B-BBB0-4A1E723E2944}"/>
                  </a:ext>
                </a:extLst>
              </p:cNvPr>
              <p:cNvCxnSpPr/>
              <p:nvPr/>
            </p:nvCxnSpPr>
            <p:spPr>
              <a:xfrm flipH="1">
                <a:off x="5103223" y="2108154"/>
                <a:ext cx="143306" cy="195372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32D61A02-D859-084D-945D-4D28507CDB86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25" y="1389724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32D61A02-D859-084D-945D-4D28507CDB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7825" y="1389724"/>
                    <a:ext cx="443619" cy="276999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251DF5BA-84FE-734F-905F-1ADCEDE48030}"/>
                      </a:ext>
                    </a:extLst>
                  </p:cNvPr>
                  <p:cNvSpPr txBox="1"/>
                  <p:nvPr/>
                </p:nvSpPr>
                <p:spPr>
                  <a:xfrm>
                    <a:off x="5006080" y="2298923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251DF5BA-84FE-734F-905F-1ADCEDE480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6080" y="2298923"/>
                    <a:ext cx="443619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EF5040EB-C7A2-CA40-A37E-7D7BF8D4CBDB}"/>
                  </a:ext>
                </a:extLst>
              </p:cNvPr>
              <p:cNvCxnSpPr>
                <a:cxnSpLocks/>
                <a:stCxn id="89" idx="6"/>
              </p:cNvCxnSpPr>
              <p:nvPr/>
            </p:nvCxnSpPr>
            <p:spPr>
              <a:xfrm>
                <a:off x="6133707" y="1983588"/>
                <a:ext cx="89411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90E3517-94F8-2D46-9E56-DF7E7D4D8B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04474" y="1892369"/>
                <a:ext cx="143306" cy="195372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859B9BF5-E100-5648-AF8E-F189E6C18E25}"/>
                      </a:ext>
                    </a:extLst>
                  </p:cNvPr>
                  <p:cNvSpPr txBox="1"/>
                  <p:nvPr/>
                </p:nvSpPr>
                <p:spPr>
                  <a:xfrm>
                    <a:off x="6269076" y="1619274"/>
                    <a:ext cx="443619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859B9BF5-E100-5648-AF8E-F189E6C18E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076" y="1619274"/>
                    <a:ext cx="443619" cy="276999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90DDE1-A350-8142-98F0-35274641E283}"/>
                  </a:ext>
                </a:extLst>
              </p:cNvPr>
              <p:cNvSpPr txBox="1"/>
              <p:nvPr/>
            </p:nvSpPr>
            <p:spPr>
              <a:xfrm>
                <a:off x="6434843" y="5292111"/>
                <a:ext cx="897344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30188" indent="-230188"/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 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=000</m:t>
                    </m:r>
                  </m:oMath>
                </a14:m>
                <a:r>
                  <a:rPr lang="en-US" dirty="0"/>
                  <a:t> since the input is negative</a:t>
                </a:r>
              </a:p>
              <a:p>
                <a:pPr marL="230188" indent="-230188"/>
                <a:endParaRPr lang="en-US" dirty="0"/>
              </a:p>
              <a:p>
                <a:pPr marL="230188" indent="-230188"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𝑋𝑋</m:t>
                    </m:r>
                  </m:oMath>
                </a14:m>
                <a:r>
                  <a:rPr lang="en-US" dirty="0"/>
                  <a:t> since the input is positive</a:t>
                </a:r>
              </a:p>
              <a:p>
                <a:pPr marL="230188" indent="-230188"/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90DDE1-A350-8142-98F0-35274641E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843" y="5292111"/>
                <a:ext cx="8973443" cy="1477328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14C89A-9D93-4DEB-AD47-0CD575EDC27F}"/>
                  </a:ext>
                </a:extLst>
              </p:cNvPr>
              <p:cNvSpPr txBox="1"/>
              <p:nvPr/>
            </p:nvSpPr>
            <p:spPr>
              <a:xfrm>
                <a:off x="687046" y="4792833"/>
                <a:ext cx="2707207" cy="147732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ambria Math" panose="02040503050406030204" pitchFamily="18" charset="0"/>
                  </a:rPr>
                  <a:t>Due to our assumptions, the multiplier is simply: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00=2′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11=−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14C89A-9D93-4DEB-AD47-0CD575EDC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46" y="4792833"/>
                <a:ext cx="2707207" cy="1477328"/>
              </a:xfrm>
              <a:prstGeom prst="rect">
                <a:avLst/>
              </a:prstGeom>
              <a:blipFill>
                <a:blip r:embed="rId42"/>
                <a:stretch>
                  <a:fillRect l="-1794" t="-20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420DDB-AB24-4192-BB97-9A6FF2BCB39B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2040650" y="3956397"/>
            <a:ext cx="2724998" cy="83643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Left Brace 151">
            <a:extLst>
              <a:ext uri="{FF2B5EF4-FFF2-40B4-BE49-F238E27FC236}">
                <a16:creationId xmlns:a16="http://schemas.microsoft.com/office/drawing/2014/main" id="{ADB99111-75B1-D642-B91C-B87AA724CC3E}"/>
              </a:ext>
            </a:extLst>
          </p:cNvPr>
          <p:cNvSpPr/>
          <p:nvPr/>
        </p:nvSpPr>
        <p:spPr>
          <a:xfrm rot="16200000">
            <a:off x="6016584" y="2581023"/>
            <a:ext cx="301978" cy="4301207"/>
          </a:xfrm>
          <a:prstGeom prst="leftBrace">
            <a:avLst>
              <a:gd name="adj1" fmla="val 2563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2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2CB13C-4EE0-49F0-B34C-B92E84279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503" y="1219200"/>
            <a:ext cx="10972800" cy="5277393"/>
          </a:xfrm>
        </p:spPr>
        <p:txBody>
          <a:bodyPr>
            <a:normAutofit/>
          </a:bodyPr>
          <a:lstStyle/>
          <a:p>
            <a:r>
              <a:rPr lang="en-US" dirty="0"/>
              <a:t>Each neuron of MLP is homogeneous (</a:t>
            </a:r>
            <a:r>
              <a:rPr lang="en-US" dirty="0" err="1"/>
              <a:t>MAC+activation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C00000"/>
                </a:solidFill>
              </a:rPr>
              <a:t>Design a single neuron of MLP</a:t>
            </a:r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Notes about real designs:</a:t>
            </a:r>
          </a:p>
          <a:p>
            <a:pPr marL="557086" lvl="1" indent="-285750"/>
            <a:r>
              <a:rPr lang="en-US" dirty="0"/>
              <a:t>In general, one can replicate the hidden layers</a:t>
            </a:r>
          </a:p>
          <a:p>
            <a:pPr marL="557086" lvl="1" indent="-285750"/>
            <a:r>
              <a:rPr lang="en-US" dirty="0"/>
              <a:t>One can use 8 or a larger number of bits (with a proper MAC design)</a:t>
            </a:r>
          </a:p>
          <a:p>
            <a:pPr lvl="2"/>
            <a:r>
              <a:rPr lang="en-US" dirty="0"/>
              <a:t>8-bit quantized weights/activations provide &gt;90% accuracy for HAR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3462D6-9061-4555-B5E2-A18F29E34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11144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ACDFFB-DC3C-4CEA-B5EC-9A47BFA6C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SzTx/>
            </a:pPr>
            <a:r>
              <a:rPr lang="en-US" altLang="en-US" dirty="0">
                <a:latin typeface="PT Sans" panose="020B0503020203020204" pitchFamily="34" charset="0"/>
              </a:rPr>
              <a:t>The project involves all phases of design:</a:t>
            </a:r>
          </a:p>
          <a:p>
            <a:pPr lvl="1">
              <a:spcBef>
                <a:spcPct val="0"/>
              </a:spcBef>
            </a:pPr>
            <a:r>
              <a:rPr lang="en-US" altLang="en-US" sz="2400" dirty="0">
                <a:latin typeface="PT Sans" panose="020B0503020203020204" pitchFamily="34" charset="0"/>
              </a:rPr>
              <a:t>Schematic design and capture Cadence</a:t>
            </a:r>
          </a:p>
          <a:p>
            <a:pPr lvl="1">
              <a:spcBef>
                <a:spcPct val="0"/>
              </a:spcBef>
            </a:pPr>
            <a:r>
              <a:rPr lang="en-US" altLang="en-US" sz="2400" dirty="0">
                <a:latin typeface="PT Sans" panose="020B0503020203020204" pitchFamily="34" charset="0"/>
              </a:rPr>
              <a:t>Pre-layout simulation</a:t>
            </a:r>
          </a:p>
          <a:p>
            <a:pPr lvl="1">
              <a:spcBef>
                <a:spcPct val="0"/>
              </a:spcBef>
            </a:pPr>
            <a:r>
              <a:rPr lang="en-US" altLang="en-US" sz="2400" dirty="0">
                <a:latin typeface="PT Sans" panose="020B0503020203020204" pitchFamily="34" charset="0"/>
              </a:rPr>
              <a:t>Layout with Cadence Virtuoso (LVS/DRC clean)</a:t>
            </a:r>
          </a:p>
          <a:p>
            <a:pPr lvl="1">
              <a:spcBef>
                <a:spcPct val="0"/>
              </a:spcBef>
            </a:pPr>
            <a:r>
              <a:rPr lang="en-US" altLang="en-US" sz="2400" dirty="0">
                <a:latin typeface="PT Sans" panose="020B0503020203020204" pitchFamily="34" charset="0"/>
              </a:rPr>
              <a:t>Parasitic extraction and </a:t>
            </a:r>
            <a:r>
              <a:rPr lang="en-US" altLang="en-US" sz="2400" dirty="0" err="1">
                <a:latin typeface="PT Sans" panose="020B0503020203020204" pitchFamily="34" charset="0"/>
              </a:rPr>
              <a:t>resimulation</a:t>
            </a:r>
            <a:r>
              <a:rPr lang="en-US" altLang="en-US" sz="2400" dirty="0">
                <a:latin typeface="PT Sans" panose="020B0503020203020204" pitchFamily="34" charset="0"/>
              </a:rPr>
              <a:t>/characterization with extracted </a:t>
            </a:r>
            <a:r>
              <a:rPr lang="en-US" altLang="en-US" sz="2400" dirty="0" err="1">
                <a:latin typeface="PT Sans" panose="020B0503020203020204" pitchFamily="34" charset="0"/>
              </a:rPr>
              <a:t>parasitics</a:t>
            </a:r>
            <a:endParaRPr lang="en-US" sz="2400" dirty="0">
              <a:latin typeface="PT Sans" panose="020B0503020203020204" pitchFamily="34" charset="0"/>
            </a:endParaRPr>
          </a:p>
          <a:p>
            <a:pPr marL="0" indent="0">
              <a:buNone/>
            </a:pPr>
            <a:endParaRPr lang="en-US" dirty="0">
              <a:latin typeface="PT Sans" panose="020B0503020203020204" pitchFamily="34" charset="0"/>
            </a:endParaRPr>
          </a:p>
          <a:p>
            <a:r>
              <a:rPr lang="en-US" dirty="0">
                <a:latin typeface="PT Sans" panose="020B0503020203020204" pitchFamily="34" charset="0"/>
              </a:rPr>
              <a:t>Final design will be evaluated based on operating frequency and area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FDDED0-FABC-4567-A2C9-75CA8FAD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 &amp;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42508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B75408-4960-4ED8-B323-1B0C928BDC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503" y="1219200"/>
                <a:ext cx="10972800" cy="5303519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en-US" altLang="en-US" sz="2400" dirty="0">
                    <a:latin typeface="PT Sans" panose="020B0503020203020204" pitchFamily="34" charset="0"/>
                  </a:rPr>
                  <a:t>Quality of report, schematics, &amp; layout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sz="2400" dirty="0">
                    <a:latin typeface="PT Sans" panose="020B0503020203020204" pitchFamily="34" charset="0"/>
                  </a:rPr>
                  <a:t>Normalized metric ty score, normalized to highest class score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dirty="0">
                    <a:latin typeface="PT Sans" panose="020B0503020203020204" pitchFamily="34" charset="0"/>
                  </a:rPr>
                  <a:t>Metric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𝑭𝒓𝒆𝒒𝒖𝒆𝒏𝒄</m:t>
                                </m:r>
                                <m:sSub>
                                  <m:sSubPr>
                                    <m:ctrlPr>
                                      <a:rPr lang="en-US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en-US" b="1" i="1" smtClean="0">
                                        <a:latin typeface="Cambria Math" panose="02040503050406030204" pitchFamily="18" charset="0"/>
                                      </a:rPr>
                                      <m:t>𝒎𝒂𝒙</m:t>
                                    </m:r>
                                  </m:sub>
                                </m:sSub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@</m:t>
                                </m:r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num>
                              <m:den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𝑨𝒓𝒆𝒂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endParaRPr lang="en-US" altLang="en-US" sz="2400" dirty="0">
                  <a:latin typeface="PT Sans" panose="020B0503020203020204" pitchFamily="34" charset="0"/>
                </a:endParaRPr>
              </a:p>
              <a:p>
                <a:pPr>
                  <a:spcBef>
                    <a:spcPts val="1200"/>
                  </a:spcBef>
                  <a:buSzTx/>
                </a:pPr>
                <a:r>
                  <a:rPr lang="en-US" altLang="en-US" sz="2400" dirty="0">
                    <a:latin typeface="PT Sans" panose="020B0503020203020204" pitchFamily="34" charset="0"/>
                  </a:rPr>
                  <a:t>m is a factor (0.5 &lt;=  m &lt;= 1.0) that can be used to control the spread of the grades.  Basically, a knob we can tweak in case one group really does well and sets a standard other groups cannot meet</a:t>
                </a:r>
              </a:p>
              <a:p>
                <a:pPr eaLnBrk="1" hangingPunct="1">
                  <a:spcBef>
                    <a:spcPts val="1200"/>
                  </a:spcBef>
                  <a:buClrTx/>
                  <a:buSzTx/>
                  <a:buFontTx/>
                  <a:buChar char="•"/>
                </a:pPr>
                <a:endParaRPr lang="en-US" altLang="en-US" sz="2400" dirty="0">
                  <a:latin typeface="PT Sans" panose="020B050302020302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endParaRPr lang="en-US" altLang="en-US" sz="2400" dirty="0">
                  <a:latin typeface="PT Sans" panose="020B050302020302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B75408-4960-4ED8-B323-1B0C928BDC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503" y="1219200"/>
                <a:ext cx="10972800" cy="5303519"/>
              </a:xfrm>
              <a:blipFill>
                <a:blip r:embed="rId2"/>
                <a:stretch>
                  <a:fillRect l="-944" t="-1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5D09B68-46E0-4349-81E2-53BC573F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216272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9147E3-8A25-46EE-98A9-87C3F51F4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latin typeface="+mj-lt"/>
              </a:rPr>
              <a:t>Report does </a:t>
            </a:r>
            <a:r>
              <a:rPr lang="en-US" altLang="en-US" sz="2000" b="1" dirty="0">
                <a:latin typeface="+mj-lt"/>
              </a:rPr>
              <a:t>not</a:t>
            </a:r>
            <a:r>
              <a:rPr lang="en-US" altLang="en-US" sz="2000" dirty="0">
                <a:latin typeface="+mj-lt"/>
              </a:rPr>
              <a:t> need to contain lengthy text.  Explain the design (e.g. why is a neuron important? Potential applications?). Explain the digital components in the design, and also explain your thought process in sizing transistors. </a:t>
            </a:r>
          </a:p>
          <a:p>
            <a:r>
              <a:rPr lang="en-US" altLang="en-US" sz="2400" dirty="0">
                <a:latin typeface="+mj-lt"/>
              </a:rPr>
              <a:t>The following data is expected:</a:t>
            </a:r>
          </a:p>
          <a:p>
            <a:pPr lvl="1"/>
            <a:r>
              <a:rPr lang="en-US" altLang="en-US" dirty="0">
                <a:latin typeface="+mj-lt"/>
              </a:rPr>
              <a:t>Max speed design could run post-layout: T</a:t>
            </a:r>
          </a:p>
          <a:p>
            <a:pPr lvl="2"/>
            <a:r>
              <a:rPr lang="en-US" altLang="en-US" dirty="0">
                <a:latin typeface="+mj-lt"/>
              </a:rPr>
              <a:t>i.e., Delay from input to output</a:t>
            </a:r>
          </a:p>
          <a:p>
            <a:pPr lvl="1"/>
            <a:r>
              <a:rPr lang="en-US" altLang="en-US" dirty="0">
                <a:latin typeface="+mj-lt"/>
              </a:rPr>
              <a:t>Frequency = 1/T</a:t>
            </a:r>
          </a:p>
          <a:p>
            <a:pPr lvl="1"/>
            <a:r>
              <a:rPr lang="en-US" altLang="en-US" dirty="0">
                <a:latin typeface="+mj-lt"/>
              </a:rPr>
              <a:t>Area (rectilinear area)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A63B10-E5C3-476C-9A64-A8DFB38A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Criteria (contd.)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5398FF9-8201-4279-8769-1BED46EE6CAD}"/>
              </a:ext>
            </a:extLst>
          </p:cNvPr>
          <p:cNvSpPr>
            <a:spLocks/>
          </p:cNvSpPr>
          <p:nvPr/>
        </p:nvSpPr>
        <p:spPr bwMode="auto">
          <a:xfrm>
            <a:off x="2628900" y="4510035"/>
            <a:ext cx="1371600" cy="1524000"/>
          </a:xfrm>
          <a:custGeom>
            <a:avLst/>
            <a:gdLst>
              <a:gd name="T0" fmla="*/ 0 w 864"/>
              <a:gd name="T1" fmla="*/ 2147483646 h 960"/>
              <a:gd name="T2" fmla="*/ 0 w 864"/>
              <a:gd name="T3" fmla="*/ 0 h 960"/>
              <a:gd name="T4" fmla="*/ 2147483646 w 864"/>
              <a:gd name="T5" fmla="*/ 0 h 960"/>
              <a:gd name="T6" fmla="*/ 2147483646 w 864"/>
              <a:gd name="T7" fmla="*/ 2147483646 h 960"/>
              <a:gd name="T8" fmla="*/ 2147483646 w 864"/>
              <a:gd name="T9" fmla="*/ 2147483646 h 960"/>
              <a:gd name="T10" fmla="*/ 2147483646 w 864"/>
              <a:gd name="T11" fmla="*/ 0 h 960"/>
              <a:gd name="T12" fmla="*/ 2147483646 w 864"/>
              <a:gd name="T13" fmla="*/ 0 h 960"/>
              <a:gd name="T14" fmla="*/ 2147483646 w 864"/>
              <a:gd name="T15" fmla="*/ 2147483646 h 960"/>
              <a:gd name="T16" fmla="*/ 2147483646 w 864"/>
              <a:gd name="T17" fmla="*/ 2147483646 h 960"/>
              <a:gd name="T18" fmla="*/ 2147483646 w 864"/>
              <a:gd name="T19" fmla="*/ 2147483646 h 960"/>
              <a:gd name="T20" fmla="*/ 2147483646 w 864"/>
              <a:gd name="T21" fmla="*/ 2147483646 h 960"/>
              <a:gd name="T22" fmla="*/ 2147483646 w 864"/>
              <a:gd name="T23" fmla="*/ 2147483646 h 960"/>
              <a:gd name="T24" fmla="*/ 2147483646 w 864"/>
              <a:gd name="T25" fmla="*/ 2147483646 h 960"/>
              <a:gd name="T26" fmla="*/ 2147483646 w 864"/>
              <a:gd name="T27" fmla="*/ 2147483646 h 960"/>
              <a:gd name="T28" fmla="*/ 2147483646 w 864"/>
              <a:gd name="T29" fmla="*/ 2147483646 h 960"/>
              <a:gd name="T30" fmla="*/ 2147483646 w 864"/>
              <a:gd name="T31" fmla="*/ 2147483646 h 960"/>
              <a:gd name="T32" fmla="*/ 0 w 864"/>
              <a:gd name="T33" fmla="*/ 2147483646 h 960"/>
              <a:gd name="T34" fmla="*/ 0 w 864"/>
              <a:gd name="T35" fmla="*/ 2147483646 h 96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864" h="960">
                <a:moveTo>
                  <a:pt x="0" y="288"/>
                </a:moveTo>
                <a:lnTo>
                  <a:pt x="0" y="0"/>
                </a:lnTo>
                <a:lnTo>
                  <a:pt x="144" y="0"/>
                </a:lnTo>
                <a:lnTo>
                  <a:pt x="144" y="144"/>
                </a:lnTo>
                <a:lnTo>
                  <a:pt x="624" y="144"/>
                </a:lnTo>
                <a:lnTo>
                  <a:pt x="624" y="0"/>
                </a:lnTo>
                <a:lnTo>
                  <a:pt x="768" y="0"/>
                </a:lnTo>
                <a:lnTo>
                  <a:pt x="768" y="336"/>
                </a:lnTo>
                <a:lnTo>
                  <a:pt x="864" y="336"/>
                </a:lnTo>
                <a:lnTo>
                  <a:pt x="864" y="528"/>
                </a:lnTo>
                <a:lnTo>
                  <a:pt x="768" y="528"/>
                </a:lnTo>
                <a:lnTo>
                  <a:pt x="768" y="816"/>
                </a:lnTo>
                <a:lnTo>
                  <a:pt x="672" y="816"/>
                </a:lnTo>
                <a:lnTo>
                  <a:pt x="672" y="960"/>
                </a:lnTo>
                <a:lnTo>
                  <a:pt x="144" y="960"/>
                </a:lnTo>
                <a:lnTo>
                  <a:pt x="144" y="816"/>
                </a:lnTo>
                <a:lnTo>
                  <a:pt x="0" y="816"/>
                </a:lnTo>
                <a:lnTo>
                  <a:pt x="0" y="288"/>
                </a:lnTo>
                <a:close/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5D4E9A9-6D00-44EC-8AF6-9DAD646D0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4129035"/>
            <a:ext cx="34290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PT Sans" panose="020B0503020203020204" pitchFamily="34" charset="0"/>
              </a:rPr>
              <a:t>Area to be reported is the area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PT Sans" panose="020B0503020203020204" pitchFamily="34" charset="0"/>
              </a:rPr>
              <a:t>of the boundary region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PT Sans" panose="020B0503020203020204" pitchFamily="34" charset="0"/>
              </a:rPr>
              <a:t>encompasses all the polygons of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PT Sans" panose="020B0503020203020204" pitchFamily="34" charset="0"/>
              </a:rPr>
              <a:t>your design.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PT Sans" panose="020B0503020203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PT Sans" panose="020B0503020203020204" pitchFamily="34" charset="0"/>
              </a:rPr>
              <a:t>If your block looked like this (it shouldn’t </a:t>
            </a:r>
            <a:r>
              <a:rPr lang="en-US" altLang="en-US" sz="1800" dirty="0">
                <a:latin typeface="PT Sans" panose="020B0503020203020204" pitchFamily="34" charset="0"/>
                <a:sym typeface="Wingdings" panose="05000000000000000000" pitchFamily="2" charset="2"/>
              </a:rPr>
              <a:t>)</a:t>
            </a:r>
            <a:r>
              <a:rPr lang="en-US" altLang="en-US" sz="1800" dirty="0">
                <a:latin typeface="PT Sans" panose="020B0503020203020204" pitchFamily="34" charset="0"/>
              </a:rPr>
              <a:t>, this is the area you would report.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47FA312-8E22-4B56-9B54-CD3BD2B13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7700" y="4586235"/>
            <a:ext cx="1371600" cy="1524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charset="0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F158DF7C-2A21-49BA-B22D-C2E7A989C0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1337" y="5501029"/>
            <a:ext cx="2545690" cy="13776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1561B474-9347-4616-8808-2F4548E995A0}"/>
              </a:ext>
            </a:extLst>
          </p:cNvPr>
          <p:cNvSpPr>
            <a:spLocks/>
          </p:cNvSpPr>
          <p:nvPr/>
        </p:nvSpPr>
        <p:spPr bwMode="auto">
          <a:xfrm>
            <a:off x="7580854" y="5850234"/>
            <a:ext cx="916493" cy="69501"/>
          </a:xfrm>
          <a:custGeom>
            <a:avLst/>
            <a:gdLst>
              <a:gd name="T0" fmla="*/ 0 w 1920"/>
              <a:gd name="T1" fmla="*/ 2147483646 h 56"/>
              <a:gd name="T2" fmla="*/ 2147483646 w 1920"/>
              <a:gd name="T3" fmla="*/ 2147483646 h 56"/>
              <a:gd name="T4" fmla="*/ 2147483646 w 1920"/>
              <a:gd name="T5" fmla="*/ 2147483646 h 56"/>
              <a:gd name="T6" fmla="*/ 2147483646 w 1920"/>
              <a:gd name="T7" fmla="*/ 2147483646 h 5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20" h="56">
                <a:moveTo>
                  <a:pt x="0" y="56"/>
                </a:moveTo>
                <a:cubicBezTo>
                  <a:pt x="8" y="36"/>
                  <a:pt x="16" y="16"/>
                  <a:pt x="240" y="8"/>
                </a:cubicBezTo>
                <a:cubicBezTo>
                  <a:pt x="464" y="0"/>
                  <a:pt x="1064" y="8"/>
                  <a:pt x="1344" y="8"/>
                </a:cubicBezTo>
                <a:cubicBezTo>
                  <a:pt x="1624" y="8"/>
                  <a:pt x="1832" y="8"/>
                  <a:pt x="1920" y="8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0ADBA1-7B01-45A5-B1E2-F4207A6900B2}"/>
              </a:ext>
            </a:extLst>
          </p:cNvPr>
          <p:cNvSpPr/>
          <p:nvPr/>
        </p:nvSpPr>
        <p:spPr>
          <a:xfrm>
            <a:off x="1939332" y="4206240"/>
            <a:ext cx="8159261" cy="25511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1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288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18DE95-2120-452B-A6C5-071AEC484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Blocks needed: </a:t>
            </a:r>
            <a:r>
              <a:rPr lang="en-US" i="1" dirty="0"/>
              <a:t>multiplier</a:t>
            </a:r>
            <a:r>
              <a:rPr lang="en-US" dirty="0"/>
              <a:t>, 2-bit adder, 3-bit adder, 3-bit 2-to-1 MUX</a:t>
            </a:r>
          </a:p>
          <a:p>
            <a:pPr lvl="1"/>
            <a:r>
              <a:rPr lang="en-US" dirty="0"/>
              <a:t>Multiplier is extremely simplified thanks to our assumptions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Implement each block separately</a:t>
            </a:r>
          </a:p>
          <a:p>
            <a:pPr lvl="1"/>
            <a:r>
              <a:rPr lang="en-US" dirty="0"/>
              <a:t>First implement their schematic and test their functionality through simulations</a:t>
            </a:r>
          </a:p>
          <a:p>
            <a:pPr lvl="1"/>
            <a:r>
              <a:rPr lang="en-US" dirty="0"/>
              <a:t>Then design their layout and extract parasitic netlists.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Combine the blocks to create your perceptron</a:t>
            </a:r>
          </a:p>
          <a:p>
            <a:pPr lvl="1"/>
            <a:r>
              <a:rPr lang="en-US" dirty="0"/>
              <a:t>First, implement the schematic using the symbols (or the schematic views) of the building blocks</a:t>
            </a:r>
          </a:p>
          <a:p>
            <a:pPr lvl="1"/>
            <a:r>
              <a:rPr lang="en-US" dirty="0"/>
              <a:t>Then, design the layout using the layouts of the building blocks.</a:t>
            </a:r>
          </a:p>
          <a:p>
            <a:pPr lvl="2"/>
            <a:r>
              <a:rPr lang="en-US" dirty="0"/>
              <a:t>It’s extremely important to follow this modular methodology, otherwise you will get lost!</a:t>
            </a:r>
          </a:p>
          <a:p>
            <a:pPr lvl="2"/>
            <a:r>
              <a:rPr lang="en-US" dirty="0"/>
              <a:t>You can use the M2 and M3 layers and their Vias to route your design.</a:t>
            </a:r>
          </a:p>
          <a:p>
            <a:pPr lvl="2"/>
            <a:r>
              <a:rPr lang="en-US" dirty="0"/>
              <a:t>Remember, the higher the metal layers you use, the higher the delay gets.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48D98A-E849-41A2-BB26-71B721F5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Design Steps (You don’t have to follow)</a:t>
            </a:r>
          </a:p>
        </p:txBody>
      </p:sp>
    </p:spTree>
    <p:extLst>
      <p:ext uri="{BB962C8B-B14F-4D97-AF65-F5344CB8AC3E}">
        <p14:creationId xmlns:p14="http://schemas.microsoft.com/office/powerpoint/2010/main" val="257845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2D5A20-4DFC-40BD-A5B5-3188C070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D98037A-15A9-48D4-B44A-DCAB8FA7C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30787"/>
              </p:ext>
            </p:extLst>
          </p:nvPr>
        </p:nvGraphicFramePr>
        <p:xfrm>
          <a:off x="451103" y="1923812"/>
          <a:ext cx="10283156" cy="2965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6772">
                  <a:extLst>
                    <a:ext uri="{9D8B030D-6E8A-4147-A177-3AD203B41FA5}">
                      <a16:colId xmlns:a16="http://schemas.microsoft.com/office/drawing/2014/main" val="3256852372"/>
                    </a:ext>
                  </a:extLst>
                </a:gridCol>
                <a:gridCol w="1766762">
                  <a:extLst>
                    <a:ext uri="{9D8B030D-6E8A-4147-A177-3AD203B41FA5}">
                      <a16:colId xmlns:a16="http://schemas.microsoft.com/office/drawing/2014/main" val="673777805"/>
                    </a:ext>
                  </a:extLst>
                </a:gridCol>
                <a:gridCol w="2103679">
                  <a:extLst>
                    <a:ext uri="{9D8B030D-6E8A-4147-A177-3AD203B41FA5}">
                      <a16:colId xmlns:a16="http://schemas.microsoft.com/office/drawing/2014/main" val="2257352033"/>
                    </a:ext>
                  </a:extLst>
                </a:gridCol>
                <a:gridCol w="2415943">
                  <a:extLst>
                    <a:ext uri="{9D8B030D-6E8A-4147-A177-3AD203B41FA5}">
                      <a16:colId xmlns:a16="http://schemas.microsoft.com/office/drawing/2014/main" val="3192575007"/>
                    </a:ext>
                  </a:extLst>
                </a:gridCol>
              </a:tblGrid>
              <a:tr h="4650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T Sans" panose="020B0503020203020204" pitchFamily="34" charset="0"/>
                        </a:rP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T Sans" panose="020B0503020203020204" pitchFamily="34" charset="0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T Sans" panose="020B0503020203020204" pitchFamily="34" charset="0"/>
                        </a:rPr>
                        <a:t>Weight in the project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T Sans" panose="020B0503020203020204" pitchFamily="34" charset="0"/>
                        </a:rPr>
                        <a:t>Overall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854113"/>
                  </a:ext>
                </a:extLst>
              </a:tr>
              <a:tr h="465066"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Team sign up*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Oct 15</a:t>
                      </a:r>
                      <a:r>
                        <a:rPr lang="en-US" baseline="30000" dirty="0">
                          <a:latin typeface="PT Sans" panose="020B0503020203020204" pitchFamily="34" charset="0"/>
                        </a:rPr>
                        <a:t>th</a:t>
                      </a:r>
                      <a:r>
                        <a:rPr lang="en-US" dirty="0">
                          <a:latin typeface="PT Sans" panose="020B0503020203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T Sans" panose="020B0503020203020204" pitchFamily="34" charset="0"/>
                        </a:rPr>
                        <a:t>0%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T Sans" panose="020B0503020203020204" pitchFamily="34" charset="0"/>
                        </a:rPr>
                        <a:t>0%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19733"/>
                  </a:ext>
                </a:extLst>
              </a:tr>
              <a:tr h="465066"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Gate-level design (PDF/PPT)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Nov 13</a:t>
                      </a:r>
                      <a:r>
                        <a:rPr lang="en-US" baseline="30000" dirty="0">
                          <a:latin typeface="PT Sans" panose="020B0503020203020204" pitchFamily="34" charset="0"/>
                        </a:rPr>
                        <a:t>th</a:t>
                      </a:r>
                      <a:r>
                        <a:rPr lang="en-US" dirty="0">
                          <a:latin typeface="PT Sans" panose="020B0503020203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T Sans" panose="020B0503020203020204" pitchFamily="34" charset="0"/>
                        </a:rPr>
                        <a:t>25%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T Sans" panose="020B0503020203020204" pitchFamily="34" charset="0"/>
                        </a:rPr>
                        <a:t>5%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73396"/>
                  </a:ext>
                </a:extLst>
              </a:tr>
              <a:tr h="465066"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Functionality verification of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Dec. 4</a:t>
                      </a:r>
                      <a:r>
                        <a:rPr lang="en-US" baseline="30000" dirty="0">
                          <a:latin typeface="PT Sans" panose="020B0503020203020204" pitchFamily="34" charset="0"/>
                        </a:rPr>
                        <a:t>th</a:t>
                      </a:r>
                      <a:r>
                        <a:rPr lang="en-US" dirty="0">
                          <a:latin typeface="PT Sans" panose="020B0503020203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T Sans" panose="020B0503020203020204" pitchFamily="34" charset="0"/>
                        </a:rPr>
                        <a:t>25%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PT Sans" panose="020B0503020203020204" pitchFamily="34" charset="0"/>
                        </a:rPr>
                        <a:t>5%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993406"/>
                  </a:ext>
                </a:extLst>
              </a:tr>
              <a:tr h="465066"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Optimized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Dec. 11</a:t>
                      </a:r>
                      <a:r>
                        <a:rPr lang="en-US" baseline="30000" dirty="0">
                          <a:latin typeface="PT Sans" panose="020B0503020203020204" pitchFamily="34" charset="0"/>
                        </a:rPr>
                        <a:t>th</a:t>
                      </a:r>
                      <a:r>
                        <a:rPr lang="en-US" dirty="0">
                          <a:latin typeface="PT Sans" panose="020B0503020203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T Sans" panose="020B0503020203020204" pitchFamily="34" charset="0"/>
                        </a:rPr>
                        <a:t>25%**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PT Sans" panose="020B0503020203020204" pitchFamily="34" charset="0"/>
                        </a:rPr>
                        <a:t>5%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888820"/>
                  </a:ext>
                </a:extLst>
              </a:tr>
              <a:tr h="465066"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Final project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T Sans" panose="020B0503020203020204" pitchFamily="34" charset="0"/>
                        </a:rPr>
                        <a:t>Dec 16</a:t>
                      </a:r>
                      <a:r>
                        <a:rPr lang="en-US" baseline="30000" dirty="0">
                          <a:latin typeface="PT Sans" panose="020B0503020203020204" pitchFamily="34" charset="0"/>
                        </a:rPr>
                        <a:t>th</a:t>
                      </a:r>
                      <a:r>
                        <a:rPr lang="en-US" dirty="0">
                          <a:latin typeface="PT Sans" panose="020B0503020203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T Sans" panose="020B0503020203020204" pitchFamily="34" charset="0"/>
                        </a:rPr>
                        <a:t>25%</a:t>
                      </a:r>
                      <a:endParaRPr lang="en-US" dirty="0">
                        <a:latin typeface="PT Sans" panose="020B05030202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PT Sans" panose="020B0503020203020204" pitchFamily="34" charset="0"/>
                        </a:rPr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2831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F503B8B-68C9-48E2-80C5-37104730B9F0}"/>
              </a:ext>
            </a:extLst>
          </p:cNvPr>
          <p:cNvSpPr txBox="1"/>
          <p:nvPr/>
        </p:nvSpPr>
        <p:spPr>
          <a:xfrm>
            <a:off x="414015" y="5520458"/>
            <a:ext cx="11354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** Normalized across the class based on the quality metric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3CB90-09D7-334A-B921-26E9024B14E6}"/>
              </a:ext>
            </a:extLst>
          </p:cNvPr>
          <p:cNvSpPr txBox="1"/>
          <p:nvPr/>
        </p:nvSpPr>
        <p:spPr>
          <a:xfrm>
            <a:off x="376928" y="1442659"/>
            <a:ext cx="8244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PT Sans" panose="020B0503020203020204" pitchFamily="34" charset="0"/>
              </a:rPr>
              <a:t>Remember the overall project weight is 25%</a:t>
            </a:r>
          </a:p>
        </p:txBody>
      </p:sp>
    </p:spTree>
    <p:extLst>
      <p:ext uri="{BB962C8B-B14F-4D97-AF65-F5344CB8AC3E}">
        <p14:creationId xmlns:p14="http://schemas.microsoft.com/office/powerpoint/2010/main" val="130286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B310"/>
        </a:solidFill>
        <a:ln w="19050">
          <a:solidFill>
            <a:schemeClr val="tx1"/>
          </a:solidFill>
        </a:ln>
      </a:spPr>
      <a:bodyPr lIns="0" rIns="0" rtlCol="0" anchor="ctr"/>
      <a:lstStyle>
        <a:defPPr algn="ctr">
          <a:defRPr sz="2100" b="1" dirty="0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ew-eLab-Template" id="{603D8D4D-D8F6-A142-BA08-516B1A78EE78}" vid="{923F2D22-9700-924A-80CD-CD215FB411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prelim_exam_sumit_v1</Template>
  <TotalTime>8471</TotalTime>
  <Words>1875</Words>
  <Application>Microsoft Office PowerPoint</Application>
  <PresentationFormat>Widescreen</PresentationFormat>
  <Paragraphs>377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 Math</vt:lpstr>
      <vt:lpstr>PT Sans</vt:lpstr>
      <vt:lpstr>Times New Roman</vt:lpstr>
      <vt:lpstr>Wingdings</vt:lpstr>
      <vt:lpstr>Office Theme</vt:lpstr>
      <vt:lpstr>Multi-layer Perceptron Design for Human Activity Recognition</vt:lpstr>
      <vt:lpstr>Motivation for the Project</vt:lpstr>
      <vt:lpstr>Motivation for the Project (cont’)</vt:lpstr>
      <vt:lpstr>System—level View: Human Activity Recognition (HAR)</vt:lpstr>
      <vt:lpstr>Multi-layer Perceptron Operation and Weights</vt:lpstr>
      <vt:lpstr>Multi-layer Perceptron: A simple illustration - 1</vt:lpstr>
      <vt:lpstr>Multi-layer Perceptron: A simple illustration - 2</vt:lpstr>
      <vt:lpstr>Simplifying Assumptions</vt:lpstr>
      <vt:lpstr>Example Datapath for a Neuron</vt:lpstr>
      <vt:lpstr>Project Specifications</vt:lpstr>
      <vt:lpstr>Milestones &amp; Expected Outcome</vt:lpstr>
      <vt:lpstr>Evaluation Criteria</vt:lpstr>
      <vt:lpstr>Evaluation Criteria (contd.)</vt:lpstr>
      <vt:lpstr>Example Design Steps (You don’t have to follow)</vt:lpstr>
      <vt:lpstr>Milestones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Journey from Mobile Platforms to  Self-Powered Wearable Systems</dc:title>
  <dc:creator>Sumit K Mandal</dc:creator>
  <cp:lastModifiedBy>Akhilesh Jaiswal</cp:lastModifiedBy>
  <cp:revision>62</cp:revision>
  <cp:lastPrinted>2021-10-29T00:44:04Z</cp:lastPrinted>
  <dcterms:created xsi:type="dcterms:W3CDTF">2021-06-02T21:09:16Z</dcterms:created>
  <dcterms:modified xsi:type="dcterms:W3CDTF">2026-10-14T01:39:33Z</dcterms:modified>
</cp:coreProperties>
</file>